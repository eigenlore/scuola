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4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441" r:id="rId9"/>
    <p:sldId id="264" r:id="rId10"/>
    <p:sldId id="442" r:id="rId11"/>
    <p:sldId id="269" r:id="rId12"/>
    <p:sldId id="276" r:id="rId13"/>
    <p:sldId id="278" r:id="rId14"/>
    <p:sldId id="280" r:id="rId15"/>
    <p:sldId id="281" r:id="rId16"/>
    <p:sldId id="283" r:id="rId17"/>
    <p:sldId id="440" r:id="rId18"/>
  </p:sldIdLst>
  <p:sldSz cx="12192000" cy="6858000"/>
  <p:notesSz cx="6888163" cy="10018713"/>
  <p:embeddedFontLst>
    <p:embeddedFont>
      <p:font typeface="Franklin Gothic" panose="020B0603020102020204" pitchFamily="34" charset="0"/>
      <p:regular r:id="rId20"/>
      <p:bold r:id="rId21"/>
      <p:italic r:id="rId22"/>
      <p:boldItalic r:id="rId23"/>
    </p:embeddedFont>
    <p:embeddedFont>
      <p:font typeface="Franklin Gothic Book" panose="020B0503020102020204" pitchFamily="34" charset="0"/>
      <p:regular r:id="rId24"/>
      <p:italic r:id="rId25"/>
    </p:embeddedFont>
    <p:embeddedFont>
      <p:font typeface="Libre Franklin" pitchFamily="2" charset="77"/>
      <p:regular r:id="rId26"/>
      <p:bold r:id="rId27"/>
      <p:italic r:id="rId28"/>
      <p:boldItalic r:id="rId29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hYy1fTagCGD9jzeM4HPvob+QxR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F0D3D6-3D62-4597-B8D4-FF6749928FE8}">
  <a:tblStyle styleId="{8EF0D3D6-3D62-4597-B8D4-FF6749928FE8}" styleName="Table_0">
    <a:wholeTbl>
      <a:tcTxStyle b="off" i="off">
        <a:font>
          <a:latin typeface="Franklin Gothic Book"/>
          <a:ea typeface="Franklin Gothic Book"/>
          <a:cs typeface="Franklin Gothic Book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1F7F8"/>
          </a:solidFill>
        </a:fill>
      </a:tcStyle>
    </a:wholeTbl>
    <a:band1H>
      <a:tcTxStyle/>
      <a:tcStyle>
        <a:tcBdr/>
        <a:fill>
          <a:solidFill>
            <a:srgbClr val="E1EFF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1EFF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85602A4-5F2E-4FBC-BA13-5C0F2FC94B0A}" styleName="Table_1">
    <a:wholeTbl>
      <a:tcTxStyle b="off" i="off">
        <a:font>
          <a:latin typeface="Franklin Gothic Book"/>
          <a:ea typeface="Franklin Gothic Book"/>
          <a:cs typeface="Franklin Gothic Book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1E9EC"/>
          </a:solidFill>
        </a:fill>
      </a:tcStyle>
    </a:wholeTbl>
    <a:band1H>
      <a:tcTxStyle/>
      <a:tcStyle>
        <a:tcBdr/>
        <a:fill>
          <a:solidFill>
            <a:srgbClr val="E2D0D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2D0D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852D23-66E5-46D9-8489-5FCFC7B27883}" styleName="Table_2">
    <a:wholeTbl>
      <a:tcTxStyle b="off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DCB56A6-20A1-4D1D-A33D-9E12F16A5F3B}" styleName="Table_3">
    <a:wholeTbl>
      <a:tcTxStyle b="off" i="off">
        <a:font>
          <a:latin typeface="Franklin Gothic Book"/>
          <a:ea typeface="Franklin Gothic Book"/>
          <a:cs typeface="Franklin Gothic Book"/>
        </a:font>
        <a:schemeClr val="dk1"/>
      </a:tcTxStyle>
      <a:tcStyle>
        <a:tcBdr>
          <a:lef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EF0"/>
          </a:solidFill>
        </a:fill>
      </a:tcStyle>
    </a:wholeTbl>
    <a:band1H>
      <a:tcTxStyle/>
      <a:tcStyle>
        <a:tcBdr/>
        <a:fill>
          <a:solidFill>
            <a:srgbClr val="CDDCD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CDF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8EEF0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8EEF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2738261-0D56-4DB0-BE30-32C9020CD051}" styleName="Table_4">
    <a:wholeTbl>
      <a:tcTxStyle b="off" i="off">
        <a:font>
          <a:latin typeface="Franklin Gothic Book"/>
          <a:ea typeface="Franklin Gothic Book"/>
          <a:cs typeface="Franklin Gothic Book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EF7E8"/>
          </a:solidFill>
        </a:fill>
      </a:tcStyle>
    </a:wholeTbl>
    <a:band1H>
      <a:tcTxStyle/>
      <a:tcStyle>
        <a:tcBdr/>
        <a:fill>
          <a:solidFill>
            <a:srgbClr val="FDEF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DEFCE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EF7E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EF7E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993EA0C-0BF3-4CB6-B5C7-6E13C0C34D9C}" styleName="Table_5">
    <a:wholeTbl>
      <a:tcTxStyle b="off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B8C7203-625B-4DFF-9B40-2090213D1157}" styleName="Table_6">
    <a:wholeTbl>
      <a:tcTxStyle b="off" i="off">
        <a:font>
          <a:latin typeface="Franklin Gothic Book"/>
          <a:ea typeface="Franklin Gothic Book"/>
          <a:cs typeface="Franklin Gothic Book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1F7F8"/>
          </a:solidFill>
        </a:fill>
      </a:tcStyle>
    </a:wholeTbl>
    <a:band1H>
      <a:tcTxStyle/>
      <a:tcStyle>
        <a:tcBdr/>
        <a:fill>
          <a:solidFill>
            <a:srgbClr val="E1EFF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1EFF1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1F7F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1F7F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Stile chiaro 3 - Color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ile chiaro 3 - Color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Stile medio 4 - Color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17"/>
    <p:restoredTop sz="94652"/>
  </p:normalViewPr>
  <p:slideViewPr>
    <p:cSldViewPr snapToGrid="0">
      <p:cViewPr varScale="1">
        <p:scale>
          <a:sx n="100" d="100"/>
          <a:sy n="100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A8E12B-3A43-AD4B-9458-9D565BEEB62D}" type="doc">
      <dgm:prSet loTypeId="urn:microsoft.com/office/officeart/2005/8/layout/hList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it-IT"/>
        </a:p>
      </dgm:t>
    </dgm:pt>
    <dgm:pt modelId="{F3FAB441-1D0A-E348-A1B0-8BEFCEE03FD5}">
      <dgm:prSet phldrT="[Testo]"/>
      <dgm:spPr/>
      <dgm:t>
        <a:bodyPr/>
        <a:lstStyle/>
        <a:p>
          <a:r>
            <a:rPr lang="it-IT" dirty="0"/>
            <a:t>SOCIO-COSTRUTTIVISMO</a:t>
          </a:r>
        </a:p>
      </dgm:t>
    </dgm:pt>
    <dgm:pt modelId="{FED3FAE2-E1E2-EA4D-A2DD-0627748ECEE4}" type="parTrans" cxnId="{D277CCB8-007C-3748-B5E1-AC2F7A6D6CAB}">
      <dgm:prSet/>
      <dgm:spPr/>
      <dgm:t>
        <a:bodyPr/>
        <a:lstStyle/>
        <a:p>
          <a:endParaRPr lang="it-IT"/>
        </a:p>
      </dgm:t>
    </dgm:pt>
    <dgm:pt modelId="{FDECCA4B-8735-EE4C-9F96-EA53A3450D2D}" type="sibTrans" cxnId="{D277CCB8-007C-3748-B5E1-AC2F7A6D6CAB}">
      <dgm:prSet/>
      <dgm:spPr/>
      <dgm:t>
        <a:bodyPr/>
        <a:lstStyle/>
        <a:p>
          <a:endParaRPr lang="it-IT"/>
        </a:p>
      </dgm:t>
    </dgm:pt>
    <dgm:pt modelId="{A2942218-9585-F040-ACFE-4074571304B5}">
      <dgm:prSet phldrT="[Testo]"/>
      <dgm:spPr/>
      <dgm:t>
        <a:bodyPr/>
        <a:lstStyle/>
        <a:p>
          <a:pPr>
            <a:buClr>
              <a:schemeClr val="lt1"/>
            </a:buClr>
            <a:buSzPts val="1300"/>
          </a:pPr>
          <a:endParaRPr lang="it-IT" dirty="0"/>
        </a:p>
      </dgm:t>
    </dgm:pt>
    <dgm:pt modelId="{3058FA8D-B1B9-1844-9C48-3C520378F069}" type="parTrans" cxnId="{BA58DF2B-93EE-3C4A-AD62-8A9F478559D3}">
      <dgm:prSet/>
      <dgm:spPr/>
      <dgm:t>
        <a:bodyPr/>
        <a:lstStyle/>
        <a:p>
          <a:endParaRPr lang="it-IT"/>
        </a:p>
      </dgm:t>
    </dgm:pt>
    <dgm:pt modelId="{C63FF418-64FE-8741-B0BD-8BEA05D50E33}" type="sibTrans" cxnId="{BA58DF2B-93EE-3C4A-AD62-8A9F478559D3}">
      <dgm:prSet/>
      <dgm:spPr/>
      <dgm:t>
        <a:bodyPr/>
        <a:lstStyle/>
        <a:p>
          <a:endParaRPr lang="it-IT"/>
        </a:p>
      </dgm:t>
    </dgm:pt>
    <dgm:pt modelId="{1AB3520B-B624-1348-B30F-70035C46C705}">
      <dgm:prSet phldrT="[Testo]"/>
      <dgm:spPr/>
      <dgm:t>
        <a:bodyPr/>
        <a:lstStyle/>
        <a:p>
          <a:r>
            <a:rPr lang="it-IT" dirty="0"/>
            <a:t>COMPETENZA</a:t>
          </a:r>
        </a:p>
      </dgm:t>
    </dgm:pt>
    <dgm:pt modelId="{6E124BA6-7CD1-B84A-A5C6-52EC5EAE1605}" type="parTrans" cxnId="{820A6CB1-2E52-554F-9450-DE5F732F2EC8}">
      <dgm:prSet/>
      <dgm:spPr/>
      <dgm:t>
        <a:bodyPr/>
        <a:lstStyle/>
        <a:p>
          <a:endParaRPr lang="it-IT"/>
        </a:p>
      </dgm:t>
    </dgm:pt>
    <dgm:pt modelId="{1AFCD602-49BF-3644-A1F1-BAAC6D9764E8}" type="sibTrans" cxnId="{820A6CB1-2E52-554F-9450-DE5F732F2EC8}">
      <dgm:prSet/>
      <dgm:spPr/>
      <dgm:t>
        <a:bodyPr/>
        <a:lstStyle/>
        <a:p>
          <a:endParaRPr lang="it-IT"/>
        </a:p>
      </dgm:t>
    </dgm:pt>
    <dgm:pt modelId="{6A42862C-7AEA-334C-93EF-E0EAFAF76F84}">
      <dgm:prSet phldrT="[Testo]"/>
      <dgm:spPr/>
      <dgm:t>
        <a:bodyPr/>
        <a:lstStyle/>
        <a:p>
          <a:endParaRPr lang="it-IT" dirty="0"/>
        </a:p>
      </dgm:t>
    </dgm:pt>
    <dgm:pt modelId="{0F9D8342-E30F-F647-9104-727F6948E51B}" type="parTrans" cxnId="{7D80DABF-FC3A-0748-AFA7-EDCF331658D0}">
      <dgm:prSet/>
      <dgm:spPr/>
      <dgm:t>
        <a:bodyPr/>
        <a:lstStyle/>
        <a:p>
          <a:endParaRPr lang="it-IT"/>
        </a:p>
      </dgm:t>
    </dgm:pt>
    <dgm:pt modelId="{48F40629-DDD2-1246-9577-B4CF8214B7CE}" type="sibTrans" cxnId="{7D80DABF-FC3A-0748-AFA7-EDCF331658D0}">
      <dgm:prSet/>
      <dgm:spPr/>
      <dgm:t>
        <a:bodyPr/>
        <a:lstStyle/>
        <a:p>
          <a:endParaRPr lang="it-IT"/>
        </a:p>
      </dgm:t>
    </dgm:pt>
    <dgm:pt modelId="{00E2E0F2-4ED7-9043-A8F9-97AA898B2178}">
      <dgm:prSet/>
      <dgm:spPr/>
      <dgm:t>
        <a:bodyPr/>
        <a:lstStyle/>
        <a:p>
          <a:r>
            <a:rPr lang="it-IT">
              <a:latin typeface="Libre Franklin"/>
              <a:ea typeface="Libre Franklin"/>
              <a:cs typeface="Libre Franklin"/>
              <a:sym typeface="Libre Franklin"/>
            </a:rPr>
            <a:t>UNIVERSAL DESIGN FOR LEARNING</a:t>
          </a:r>
          <a:endParaRPr lang="it-IT" dirty="0"/>
        </a:p>
      </dgm:t>
    </dgm:pt>
    <dgm:pt modelId="{7D0B62CE-F97D-EE40-A48A-0BC3FF63E621}" type="parTrans" cxnId="{A5E70FF2-EB44-154F-9D7E-B91BB9220CD1}">
      <dgm:prSet/>
      <dgm:spPr/>
      <dgm:t>
        <a:bodyPr/>
        <a:lstStyle/>
        <a:p>
          <a:endParaRPr lang="it-IT"/>
        </a:p>
      </dgm:t>
    </dgm:pt>
    <dgm:pt modelId="{D24D322D-6475-E14E-B4AD-8F2ACE70F70E}" type="sibTrans" cxnId="{A5E70FF2-EB44-154F-9D7E-B91BB9220CD1}">
      <dgm:prSet/>
      <dgm:spPr/>
      <dgm:t>
        <a:bodyPr/>
        <a:lstStyle/>
        <a:p>
          <a:endParaRPr lang="it-IT"/>
        </a:p>
      </dgm:t>
    </dgm:pt>
    <dgm:pt modelId="{9494F486-C07C-EB41-81CF-B16F842D36AB}">
      <dgm:prSet/>
      <dgm:spPr/>
      <dgm:t>
        <a:bodyPr/>
        <a:lstStyle/>
        <a:p>
          <a:pPr>
            <a:buClr>
              <a:schemeClr val="lt1"/>
            </a:buClr>
            <a:buSzPts val="1300"/>
            <a:buFont typeface="Libre Franklin"/>
            <a:buNone/>
          </a:pPr>
          <a:endParaRPr lang="it-IT" dirty="0"/>
        </a:p>
      </dgm:t>
    </dgm:pt>
    <dgm:pt modelId="{6DCCD072-E32D-3340-9169-453BD1235095}" type="parTrans" cxnId="{FA21616C-9227-D842-A6BE-16039FAFD3EF}">
      <dgm:prSet/>
      <dgm:spPr/>
      <dgm:t>
        <a:bodyPr/>
        <a:lstStyle/>
        <a:p>
          <a:endParaRPr lang="it-IT"/>
        </a:p>
      </dgm:t>
    </dgm:pt>
    <dgm:pt modelId="{BF8FF0CC-605F-3146-ACE9-C277E96A905A}" type="sibTrans" cxnId="{FA21616C-9227-D842-A6BE-16039FAFD3EF}">
      <dgm:prSet/>
      <dgm:spPr/>
      <dgm:t>
        <a:bodyPr/>
        <a:lstStyle/>
        <a:p>
          <a:endParaRPr lang="it-IT"/>
        </a:p>
      </dgm:t>
    </dgm:pt>
    <dgm:pt modelId="{92776DCA-6036-D346-9A74-0D458F40D796}" type="pres">
      <dgm:prSet presAssocID="{73A8E12B-3A43-AD4B-9458-9D565BEEB62D}" presName="Name0" presStyleCnt="0">
        <dgm:presLayoutVars>
          <dgm:dir/>
          <dgm:animLvl val="lvl"/>
          <dgm:resizeHandles val="exact"/>
        </dgm:presLayoutVars>
      </dgm:prSet>
      <dgm:spPr/>
    </dgm:pt>
    <dgm:pt modelId="{D32AC335-3A91-AA4B-9085-B7176084239A}" type="pres">
      <dgm:prSet presAssocID="{F3FAB441-1D0A-E348-A1B0-8BEFCEE03FD5}" presName="composite" presStyleCnt="0"/>
      <dgm:spPr/>
    </dgm:pt>
    <dgm:pt modelId="{4FDAD56A-0BD0-5A4F-84BF-BE229642AD49}" type="pres">
      <dgm:prSet presAssocID="{F3FAB441-1D0A-E348-A1B0-8BEFCEE03FD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959FD74-F5A2-184E-BFA8-C7CC95625E00}" type="pres">
      <dgm:prSet presAssocID="{F3FAB441-1D0A-E348-A1B0-8BEFCEE03FD5}" presName="desTx" presStyleLbl="alignAccFollowNode1" presStyleIdx="0" presStyleCnt="3">
        <dgm:presLayoutVars>
          <dgm:bulletEnabled val="1"/>
        </dgm:presLayoutVars>
      </dgm:prSet>
      <dgm:spPr/>
    </dgm:pt>
    <dgm:pt modelId="{9D0AD461-EB38-344A-9298-3CD86CC36197}" type="pres">
      <dgm:prSet presAssocID="{FDECCA4B-8735-EE4C-9F96-EA53A3450D2D}" presName="space" presStyleCnt="0"/>
      <dgm:spPr/>
    </dgm:pt>
    <dgm:pt modelId="{491A17DD-A995-DE4A-9F39-364A9B2A3242}" type="pres">
      <dgm:prSet presAssocID="{1AB3520B-B624-1348-B30F-70035C46C705}" presName="composite" presStyleCnt="0"/>
      <dgm:spPr/>
    </dgm:pt>
    <dgm:pt modelId="{55F73244-9279-CF4D-AA01-97CFF0803F77}" type="pres">
      <dgm:prSet presAssocID="{1AB3520B-B624-1348-B30F-70035C46C70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EE5165A-DDCA-054F-9A44-36F81D3210CE}" type="pres">
      <dgm:prSet presAssocID="{1AB3520B-B624-1348-B30F-70035C46C705}" presName="desTx" presStyleLbl="alignAccFollowNode1" presStyleIdx="1" presStyleCnt="3">
        <dgm:presLayoutVars>
          <dgm:bulletEnabled val="1"/>
        </dgm:presLayoutVars>
      </dgm:prSet>
      <dgm:spPr/>
    </dgm:pt>
    <dgm:pt modelId="{CD15EEF9-006E-434A-B1CE-B23CB6A76870}" type="pres">
      <dgm:prSet presAssocID="{1AFCD602-49BF-3644-A1F1-BAAC6D9764E8}" presName="space" presStyleCnt="0"/>
      <dgm:spPr/>
    </dgm:pt>
    <dgm:pt modelId="{4F404BEB-A71A-A341-BC0F-D9403D4D057A}" type="pres">
      <dgm:prSet presAssocID="{00E2E0F2-4ED7-9043-A8F9-97AA898B2178}" presName="composite" presStyleCnt="0"/>
      <dgm:spPr/>
    </dgm:pt>
    <dgm:pt modelId="{AF9BFE8E-A027-7041-A6A9-2578675071AF}" type="pres">
      <dgm:prSet presAssocID="{00E2E0F2-4ED7-9043-A8F9-97AA898B217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9D5704B-4006-004D-8265-49176F05327E}" type="pres">
      <dgm:prSet presAssocID="{00E2E0F2-4ED7-9043-A8F9-97AA898B217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A63651E-1B00-E04E-B37B-76F5BF87F661}" type="presOf" srcId="{6A42862C-7AEA-334C-93EF-E0EAFAF76F84}" destId="{6EE5165A-DDCA-054F-9A44-36F81D3210CE}" srcOrd="0" destOrd="0" presId="urn:microsoft.com/office/officeart/2005/8/layout/hList1"/>
    <dgm:cxn modelId="{4F2B2A29-4AB7-C34C-A584-6EC54949ABC0}" type="presOf" srcId="{A2942218-9585-F040-ACFE-4074571304B5}" destId="{D959FD74-F5A2-184E-BFA8-C7CC95625E00}" srcOrd="0" destOrd="0" presId="urn:microsoft.com/office/officeart/2005/8/layout/hList1"/>
    <dgm:cxn modelId="{BA58DF2B-93EE-3C4A-AD62-8A9F478559D3}" srcId="{F3FAB441-1D0A-E348-A1B0-8BEFCEE03FD5}" destId="{A2942218-9585-F040-ACFE-4074571304B5}" srcOrd="0" destOrd="0" parTransId="{3058FA8D-B1B9-1844-9C48-3C520378F069}" sibTransId="{C63FF418-64FE-8741-B0BD-8BEA05D50E33}"/>
    <dgm:cxn modelId="{D4AB6860-1EEC-CF46-849C-61815FB17DB4}" type="presOf" srcId="{F3FAB441-1D0A-E348-A1B0-8BEFCEE03FD5}" destId="{4FDAD56A-0BD0-5A4F-84BF-BE229642AD49}" srcOrd="0" destOrd="0" presId="urn:microsoft.com/office/officeart/2005/8/layout/hList1"/>
    <dgm:cxn modelId="{FA21616C-9227-D842-A6BE-16039FAFD3EF}" srcId="{00E2E0F2-4ED7-9043-A8F9-97AA898B2178}" destId="{9494F486-C07C-EB41-81CF-B16F842D36AB}" srcOrd="0" destOrd="0" parTransId="{6DCCD072-E32D-3340-9169-453BD1235095}" sibTransId="{BF8FF0CC-605F-3146-ACE9-C277E96A905A}"/>
    <dgm:cxn modelId="{908FFE8E-18E4-8D40-B122-C9263E52BF1C}" type="presOf" srcId="{00E2E0F2-4ED7-9043-A8F9-97AA898B2178}" destId="{AF9BFE8E-A027-7041-A6A9-2578675071AF}" srcOrd="0" destOrd="0" presId="urn:microsoft.com/office/officeart/2005/8/layout/hList1"/>
    <dgm:cxn modelId="{96449798-B40A-6D45-9EBE-D10925B63E69}" type="presOf" srcId="{1AB3520B-B624-1348-B30F-70035C46C705}" destId="{55F73244-9279-CF4D-AA01-97CFF0803F77}" srcOrd="0" destOrd="0" presId="urn:microsoft.com/office/officeart/2005/8/layout/hList1"/>
    <dgm:cxn modelId="{BF531BA8-22BE-AD4E-9621-E82CC926C73E}" type="presOf" srcId="{73A8E12B-3A43-AD4B-9458-9D565BEEB62D}" destId="{92776DCA-6036-D346-9A74-0D458F40D796}" srcOrd="0" destOrd="0" presId="urn:microsoft.com/office/officeart/2005/8/layout/hList1"/>
    <dgm:cxn modelId="{820A6CB1-2E52-554F-9450-DE5F732F2EC8}" srcId="{73A8E12B-3A43-AD4B-9458-9D565BEEB62D}" destId="{1AB3520B-B624-1348-B30F-70035C46C705}" srcOrd="1" destOrd="0" parTransId="{6E124BA6-7CD1-B84A-A5C6-52EC5EAE1605}" sibTransId="{1AFCD602-49BF-3644-A1F1-BAAC6D9764E8}"/>
    <dgm:cxn modelId="{D277CCB8-007C-3748-B5E1-AC2F7A6D6CAB}" srcId="{73A8E12B-3A43-AD4B-9458-9D565BEEB62D}" destId="{F3FAB441-1D0A-E348-A1B0-8BEFCEE03FD5}" srcOrd="0" destOrd="0" parTransId="{FED3FAE2-E1E2-EA4D-A2DD-0627748ECEE4}" sibTransId="{FDECCA4B-8735-EE4C-9F96-EA53A3450D2D}"/>
    <dgm:cxn modelId="{7D80DABF-FC3A-0748-AFA7-EDCF331658D0}" srcId="{1AB3520B-B624-1348-B30F-70035C46C705}" destId="{6A42862C-7AEA-334C-93EF-E0EAFAF76F84}" srcOrd="0" destOrd="0" parTransId="{0F9D8342-E30F-F647-9104-727F6948E51B}" sibTransId="{48F40629-DDD2-1246-9577-B4CF8214B7CE}"/>
    <dgm:cxn modelId="{807D9FC6-35C3-6D49-BB74-535E16A93F77}" type="presOf" srcId="{9494F486-C07C-EB41-81CF-B16F842D36AB}" destId="{C9D5704B-4006-004D-8265-49176F05327E}" srcOrd="0" destOrd="0" presId="urn:microsoft.com/office/officeart/2005/8/layout/hList1"/>
    <dgm:cxn modelId="{A5E70FF2-EB44-154F-9D7E-B91BB9220CD1}" srcId="{73A8E12B-3A43-AD4B-9458-9D565BEEB62D}" destId="{00E2E0F2-4ED7-9043-A8F9-97AA898B2178}" srcOrd="2" destOrd="0" parTransId="{7D0B62CE-F97D-EE40-A48A-0BC3FF63E621}" sibTransId="{D24D322D-6475-E14E-B4AD-8F2ACE70F70E}"/>
    <dgm:cxn modelId="{ED36EB7B-E850-464F-8641-27F73D1A78A3}" type="presParOf" srcId="{92776DCA-6036-D346-9A74-0D458F40D796}" destId="{D32AC335-3A91-AA4B-9085-B7176084239A}" srcOrd="0" destOrd="0" presId="urn:microsoft.com/office/officeart/2005/8/layout/hList1"/>
    <dgm:cxn modelId="{C3C18FEE-CC4B-DA4F-A9DE-CC7F76F263DD}" type="presParOf" srcId="{D32AC335-3A91-AA4B-9085-B7176084239A}" destId="{4FDAD56A-0BD0-5A4F-84BF-BE229642AD49}" srcOrd="0" destOrd="0" presId="urn:microsoft.com/office/officeart/2005/8/layout/hList1"/>
    <dgm:cxn modelId="{DAD9E145-7049-204F-B0B0-398890FCFD35}" type="presParOf" srcId="{D32AC335-3A91-AA4B-9085-B7176084239A}" destId="{D959FD74-F5A2-184E-BFA8-C7CC95625E00}" srcOrd="1" destOrd="0" presId="urn:microsoft.com/office/officeart/2005/8/layout/hList1"/>
    <dgm:cxn modelId="{EDDCCBAA-836E-FC49-A74B-A009D7B18DF0}" type="presParOf" srcId="{92776DCA-6036-D346-9A74-0D458F40D796}" destId="{9D0AD461-EB38-344A-9298-3CD86CC36197}" srcOrd="1" destOrd="0" presId="urn:microsoft.com/office/officeart/2005/8/layout/hList1"/>
    <dgm:cxn modelId="{205CE4B1-EBF1-0C4E-879B-3D30275DE11A}" type="presParOf" srcId="{92776DCA-6036-D346-9A74-0D458F40D796}" destId="{491A17DD-A995-DE4A-9F39-364A9B2A3242}" srcOrd="2" destOrd="0" presId="urn:microsoft.com/office/officeart/2005/8/layout/hList1"/>
    <dgm:cxn modelId="{875754B2-02DC-4746-B0D1-618FD97A99B0}" type="presParOf" srcId="{491A17DD-A995-DE4A-9F39-364A9B2A3242}" destId="{55F73244-9279-CF4D-AA01-97CFF0803F77}" srcOrd="0" destOrd="0" presId="urn:microsoft.com/office/officeart/2005/8/layout/hList1"/>
    <dgm:cxn modelId="{88638F88-15E0-F144-B608-57303D1C13BF}" type="presParOf" srcId="{491A17DD-A995-DE4A-9F39-364A9B2A3242}" destId="{6EE5165A-DDCA-054F-9A44-36F81D3210CE}" srcOrd="1" destOrd="0" presId="urn:microsoft.com/office/officeart/2005/8/layout/hList1"/>
    <dgm:cxn modelId="{684AE729-5E09-A246-B225-7806635899DD}" type="presParOf" srcId="{92776DCA-6036-D346-9A74-0D458F40D796}" destId="{CD15EEF9-006E-434A-B1CE-B23CB6A76870}" srcOrd="3" destOrd="0" presId="urn:microsoft.com/office/officeart/2005/8/layout/hList1"/>
    <dgm:cxn modelId="{5396E550-7731-3C4F-A39E-6C0CCFDE3A37}" type="presParOf" srcId="{92776DCA-6036-D346-9A74-0D458F40D796}" destId="{4F404BEB-A71A-A341-BC0F-D9403D4D057A}" srcOrd="4" destOrd="0" presId="urn:microsoft.com/office/officeart/2005/8/layout/hList1"/>
    <dgm:cxn modelId="{742FB807-6AED-8449-B956-49FF1F72F1E9}" type="presParOf" srcId="{4F404BEB-A71A-A341-BC0F-D9403D4D057A}" destId="{AF9BFE8E-A027-7041-A6A9-2578675071AF}" srcOrd="0" destOrd="0" presId="urn:microsoft.com/office/officeart/2005/8/layout/hList1"/>
    <dgm:cxn modelId="{865F89F5-4FA7-9E4E-84D2-15F29C041231}" type="presParOf" srcId="{4F404BEB-A71A-A341-BC0F-D9403D4D057A}" destId="{C9D5704B-4006-004D-8265-49176F05327E}" srcOrd="1" destOrd="0" presId="urn:microsoft.com/office/officeart/2005/8/layout/hList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DAD56A-0BD0-5A4F-84BF-BE229642AD49}">
      <dsp:nvSpPr>
        <dsp:cNvPr id="0" name=""/>
        <dsp:cNvSpPr/>
      </dsp:nvSpPr>
      <dsp:spPr>
        <a:xfrm>
          <a:off x="3143" y="1870294"/>
          <a:ext cx="3065208" cy="12041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SOCIO-COSTRUTTIVISMO</a:t>
          </a:r>
        </a:p>
      </dsp:txBody>
      <dsp:txXfrm>
        <a:off x="3143" y="1870294"/>
        <a:ext cx="3065208" cy="1204144"/>
      </dsp:txXfrm>
    </dsp:sp>
    <dsp:sp modelId="{D959FD74-F5A2-184E-BFA8-C7CC95625E00}">
      <dsp:nvSpPr>
        <dsp:cNvPr id="0" name=""/>
        <dsp:cNvSpPr/>
      </dsp:nvSpPr>
      <dsp:spPr>
        <a:xfrm>
          <a:off x="3143" y="3074439"/>
          <a:ext cx="3065208" cy="105408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lt1"/>
            </a:buClr>
            <a:buSzPts val="1300"/>
            <a:buChar char="•"/>
          </a:pPr>
          <a:endParaRPr lang="it-IT" sz="2400" kern="1200" dirty="0"/>
        </a:p>
      </dsp:txBody>
      <dsp:txXfrm>
        <a:off x="3143" y="3074439"/>
        <a:ext cx="3065208" cy="1054080"/>
      </dsp:txXfrm>
    </dsp:sp>
    <dsp:sp modelId="{55F73244-9279-CF4D-AA01-97CFF0803F77}">
      <dsp:nvSpPr>
        <dsp:cNvPr id="0" name=""/>
        <dsp:cNvSpPr/>
      </dsp:nvSpPr>
      <dsp:spPr>
        <a:xfrm>
          <a:off x="3497481" y="1870294"/>
          <a:ext cx="3065208" cy="1204144"/>
        </a:xfrm>
        <a:prstGeom prst="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COMPETENZA</a:t>
          </a:r>
        </a:p>
      </dsp:txBody>
      <dsp:txXfrm>
        <a:off x="3497481" y="1870294"/>
        <a:ext cx="3065208" cy="1204144"/>
      </dsp:txXfrm>
    </dsp:sp>
    <dsp:sp modelId="{6EE5165A-DDCA-054F-9A44-36F81D3210CE}">
      <dsp:nvSpPr>
        <dsp:cNvPr id="0" name=""/>
        <dsp:cNvSpPr/>
      </dsp:nvSpPr>
      <dsp:spPr>
        <a:xfrm>
          <a:off x="3497481" y="3074439"/>
          <a:ext cx="3065208" cy="1054080"/>
        </a:xfrm>
        <a:prstGeom prst="rect">
          <a:avLst/>
        </a:prstGeom>
        <a:solidFill>
          <a:schemeClr val="accent3">
            <a:tint val="40000"/>
            <a:alpha val="90000"/>
            <a:hueOff val="2527575"/>
            <a:satOff val="22352"/>
            <a:lumOff val="2648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2527575"/>
              <a:satOff val="22352"/>
              <a:lumOff val="26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2400" kern="1200" dirty="0"/>
        </a:p>
      </dsp:txBody>
      <dsp:txXfrm>
        <a:off x="3497481" y="3074439"/>
        <a:ext cx="3065208" cy="1054080"/>
      </dsp:txXfrm>
    </dsp:sp>
    <dsp:sp modelId="{AF9BFE8E-A027-7041-A6A9-2578675071AF}">
      <dsp:nvSpPr>
        <dsp:cNvPr id="0" name=""/>
        <dsp:cNvSpPr/>
      </dsp:nvSpPr>
      <dsp:spPr>
        <a:xfrm>
          <a:off x="6991819" y="1870294"/>
          <a:ext cx="3065208" cy="1204144"/>
        </a:xfrm>
        <a:prstGeom prst="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>
              <a:latin typeface="Libre Franklin"/>
              <a:ea typeface="Libre Franklin"/>
              <a:cs typeface="Libre Franklin"/>
              <a:sym typeface="Libre Franklin"/>
            </a:rPr>
            <a:t>UNIVERSAL DESIGN FOR LEARNING</a:t>
          </a:r>
          <a:endParaRPr lang="it-IT" sz="2400" kern="1200" dirty="0"/>
        </a:p>
      </dsp:txBody>
      <dsp:txXfrm>
        <a:off x="6991819" y="1870294"/>
        <a:ext cx="3065208" cy="1204144"/>
      </dsp:txXfrm>
    </dsp:sp>
    <dsp:sp modelId="{C9D5704B-4006-004D-8265-49176F05327E}">
      <dsp:nvSpPr>
        <dsp:cNvPr id="0" name=""/>
        <dsp:cNvSpPr/>
      </dsp:nvSpPr>
      <dsp:spPr>
        <a:xfrm>
          <a:off x="6991819" y="3074439"/>
          <a:ext cx="3065208" cy="1054080"/>
        </a:xfrm>
        <a:prstGeom prst="rect">
          <a:avLst/>
        </a:prstGeom>
        <a:solidFill>
          <a:schemeClr val="accent3">
            <a:tint val="40000"/>
            <a:alpha val="90000"/>
            <a:hueOff val="5055149"/>
            <a:satOff val="44705"/>
            <a:lumOff val="5295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5055149"/>
              <a:satOff val="44705"/>
              <a:lumOff val="52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lt1"/>
            </a:buClr>
            <a:buSzPts val="1300"/>
            <a:buFont typeface="Libre Franklin"/>
            <a:buNone/>
          </a:pPr>
          <a:endParaRPr lang="it-IT" sz="2400" kern="1200" dirty="0"/>
        </a:p>
      </dsp:txBody>
      <dsp:txXfrm>
        <a:off x="6991819" y="3074439"/>
        <a:ext cx="3065208" cy="10540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84871" cy="5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01698" y="0"/>
            <a:ext cx="2984871" cy="5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b" anchorCtr="0">
            <a:noAutofit/>
          </a:bodyPr>
          <a:lstStyle/>
          <a:p>
            <a:pPr algn="r"/>
            <a:fld id="{00000000-1234-1234-1234-123412341234}" type="slidenum">
              <a:rPr lang="it-IT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‹N›</a:t>
            </a:fld>
            <a:endParaRPr lang="it-IT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1:notes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 sz="1300"/>
          </a:p>
        </p:txBody>
      </p:sp>
      <p:sp>
        <p:nvSpPr>
          <p:cNvPr id="136" name="Google Shape;136;p1:notes"/>
          <p:cNvSpPr txBox="1">
            <a:spLocks noGrp="1"/>
          </p:cNvSpPr>
          <p:nvPr>
            <p:ph type="sldNum" idx="12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b" anchorCtr="0">
            <a:noAutofit/>
          </a:bodyPr>
          <a:lstStyle/>
          <a:p>
            <a:pPr algn="r"/>
            <a:fld id="{00000000-1234-1234-1234-123412341234}" type="slidenum">
              <a:rPr lang="it-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1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2:notes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 sz="1300"/>
          </a:p>
        </p:txBody>
      </p:sp>
      <p:sp>
        <p:nvSpPr>
          <p:cNvPr id="145" name="Google Shape;145;p2:notes"/>
          <p:cNvSpPr txBox="1">
            <a:spLocks noGrp="1"/>
          </p:cNvSpPr>
          <p:nvPr>
            <p:ph type="sldNum" idx="12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b" anchorCtr="0">
            <a:noAutofit/>
          </a:bodyPr>
          <a:lstStyle/>
          <a:p>
            <a:pPr algn="r"/>
            <a:fld id="{00000000-1234-1234-1234-123412341234}" type="slidenum">
              <a:rPr lang="it-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2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3:notes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 sz="1300"/>
          </a:p>
        </p:txBody>
      </p:sp>
      <p:sp>
        <p:nvSpPr>
          <p:cNvPr id="152" name="Google Shape;152;p3:notes"/>
          <p:cNvSpPr txBox="1">
            <a:spLocks noGrp="1"/>
          </p:cNvSpPr>
          <p:nvPr>
            <p:ph type="sldNum" idx="12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b" anchorCtr="0">
            <a:noAutofit/>
          </a:bodyPr>
          <a:lstStyle/>
          <a:p>
            <a:pPr algn="r"/>
            <a:fld id="{00000000-1234-1234-1234-123412341234}" type="slidenum">
              <a:rPr lang="it-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3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 sz="1300">
              <a:solidFill>
                <a:schemeClr val="lt1"/>
              </a:solidFill>
            </a:endParaRPr>
          </a:p>
        </p:txBody>
      </p:sp>
      <p:sp>
        <p:nvSpPr>
          <p:cNvPr id="180" name="Google Shape;180;p8:notes"/>
          <p:cNvSpPr txBox="1">
            <a:spLocks noGrp="1"/>
          </p:cNvSpPr>
          <p:nvPr>
            <p:ph type="sldNum" idx="12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b" anchorCtr="0">
            <a:noAutofit/>
          </a:bodyPr>
          <a:lstStyle/>
          <a:p>
            <a:pPr algn="r"/>
            <a:fld id="{00000000-1234-1234-1234-123412341234}" type="slidenum">
              <a:rPr lang="it-IT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4</a:t>
            </a:fld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 sz="1300"/>
          </a:p>
        </p:txBody>
      </p:sp>
      <p:sp>
        <p:nvSpPr>
          <p:cNvPr id="191" name="Google Shape;191;p9:notes"/>
          <p:cNvSpPr txBox="1">
            <a:spLocks noGrp="1"/>
          </p:cNvSpPr>
          <p:nvPr>
            <p:ph type="sldNum" idx="12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b" anchorCtr="0">
            <a:noAutofit/>
          </a:bodyPr>
          <a:lstStyle/>
          <a:p>
            <a:pPr algn="r"/>
            <a:fld id="{00000000-1234-1234-1234-123412341234}" type="slidenum">
              <a:rPr lang="it-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5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 sz="1300"/>
          </a:p>
        </p:txBody>
      </p:sp>
      <p:sp>
        <p:nvSpPr>
          <p:cNvPr id="199" name="Google Shape;199;p10:notes"/>
          <p:cNvSpPr txBox="1">
            <a:spLocks noGrp="1"/>
          </p:cNvSpPr>
          <p:nvPr>
            <p:ph type="sldNum" idx="12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b" anchorCtr="0">
            <a:noAutofit/>
          </a:bodyPr>
          <a:lstStyle/>
          <a:p>
            <a:pPr algn="r"/>
            <a:fld id="{00000000-1234-1234-1234-123412341234}" type="slidenum">
              <a:rPr lang="it-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6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1:notes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 sz="1300"/>
          </a:p>
        </p:txBody>
      </p:sp>
      <p:sp>
        <p:nvSpPr>
          <p:cNvPr id="218" name="Google Shape;218;p11:notes"/>
          <p:cNvSpPr txBox="1">
            <a:spLocks noGrp="1"/>
          </p:cNvSpPr>
          <p:nvPr>
            <p:ph type="sldNum" idx="12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b" anchorCtr="0">
            <a:noAutofit/>
          </a:bodyPr>
          <a:lstStyle/>
          <a:p>
            <a:pPr algn="r"/>
            <a:fld id="{00000000-1234-1234-1234-123412341234}" type="slidenum">
              <a:rPr lang="it-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7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3:notes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 sz="1300"/>
          </a:p>
        </p:txBody>
      </p:sp>
      <p:sp>
        <p:nvSpPr>
          <p:cNvPr id="230" name="Google Shape;230;p13:notes"/>
          <p:cNvSpPr txBox="1">
            <a:spLocks noGrp="1"/>
          </p:cNvSpPr>
          <p:nvPr>
            <p:ph type="sldNum" idx="12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b" anchorCtr="0">
            <a:noAutofit/>
          </a:bodyPr>
          <a:lstStyle/>
          <a:p>
            <a:pPr algn="r"/>
            <a:fld id="{00000000-1234-1234-1234-123412341234}" type="slidenum">
              <a:rPr lang="it-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9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AA335A4E-1BAB-5C52-FED9-D1B4ABDBC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>
            <a:extLst>
              <a:ext uri="{FF2B5EF4-FFF2-40B4-BE49-F238E27FC236}">
                <a16:creationId xmlns:a16="http://schemas.microsoft.com/office/drawing/2014/main" id="{72D5FF6E-9F3D-1EA4-08EB-137B97E7D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3:notes">
            <a:extLst>
              <a:ext uri="{FF2B5EF4-FFF2-40B4-BE49-F238E27FC236}">
                <a16:creationId xmlns:a16="http://schemas.microsoft.com/office/drawing/2014/main" id="{BFACDC58-983E-9347-C416-315F0A124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 sz="1300"/>
          </a:p>
        </p:txBody>
      </p:sp>
      <p:sp>
        <p:nvSpPr>
          <p:cNvPr id="230" name="Google Shape;230;p13:notes">
            <a:extLst>
              <a:ext uri="{FF2B5EF4-FFF2-40B4-BE49-F238E27FC236}">
                <a16:creationId xmlns:a16="http://schemas.microsoft.com/office/drawing/2014/main" id="{1BF31E88-34CA-2681-3B13-91FC4E2BF9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b" anchorCtr="0">
            <a:noAutofit/>
          </a:bodyPr>
          <a:lstStyle/>
          <a:p>
            <a:pPr algn="r"/>
            <a:fld id="{00000000-1234-1234-1234-123412341234}" type="slidenum">
              <a:rPr lang="it-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10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9020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64" name="Google Shape;26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:notes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32" name="Google Shape;33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9:notes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75" name="Google Shape;37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30:notes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 sz="1300">
              <a:solidFill>
                <a:schemeClr val="lt1"/>
              </a:solidFill>
            </a:endParaRPr>
          </a:p>
        </p:txBody>
      </p:sp>
      <p:sp>
        <p:nvSpPr>
          <p:cNvPr id="390" name="Google Shape;390;p30:notes"/>
          <p:cNvSpPr txBox="1">
            <a:spLocks noGrp="1"/>
          </p:cNvSpPr>
          <p:nvPr>
            <p:ph type="sldNum" idx="12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b" anchorCtr="0">
            <a:noAutofit/>
          </a:bodyPr>
          <a:lstStyle/>
          <a:p>
            <a:pPr algn="r"/>
            <a:fld id="{00000000-1234-1234-1234-123412341234}" type="slidenum">
              <a:rPr lang="it-IT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14</a:t>
            </a:fld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p33:notes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 sz="1300">
              <a:solidFill>
                <a:schemeClr val="lt1"/>
              </a:solidFill>
            </a:endParaRPr>
          </a:p>
        </p:txBody>
      </p:sp>
      <p:sp>
        <p:nvSpPr>
          <p:cNvPr id="402" name="Google Shape;402;p33:notes"/>
          <p:cNvSpPr txBox="1">
            <a:spLocks noGrp="1"/>
          </p:cNvSpPr>
          <p:nvPr>
            <p:ph type="sldNum" idx="12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48282" rIns="96591" bIns="48282" anchor="b" anchorCtr="0">
            <a:noAutofit/>
          </a:bodyPr>
          <a:lstStyle/>
          <a:p>
            <a:pPr algn="r"/>
            <a:fld id="{00000000-1234-1234-1234-123412341234}" type="slidenum">
              <a:rPr lang="it-IT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15</a:t>
            </a:fld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5:notes"/>
          <p:cNvSpPr txBox="1">
            <a:spLocks noGrp="1"/>
          </p:cNvSpPr>
          <p:nvPr>
            <p:ph type="body" idx="1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spcFirstLastPara="1" wrap="square" lIns="96591" tIns="48282" rIns="96591" bIns="4828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19" name="Google Shape;41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0327DC-AA2A-CE72-2FD4-608610B68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FEB9CFC-6799-C7C2-0203-A6201D338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15716D5-C47F-068B-F9E2-3DC0B5C26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49475A-76FC-1686-A160-0BB0A836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79BA15-3B45-3DFD-17BD-7EF50BED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82605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D0FC16-3D1C-473C-138D-2C1D37724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4C3763-4200-B83F-46C8-513403D95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897E097-8F50-541B-1A6D-6F93A87C4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99D8D10-73C1-3FC6-3056-4A334757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34CD0C-DE1B-F925-FD55-663999D9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17737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6CC6A7-A86B-EDC6-0852-8E336023B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2C7BAE-7196-2BE8-CCE6-1420433BF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842A70-BD18-79C6-D5C4-1D2A1B6BC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DB7908-5C7A-736E-222E-A0B3A0DAE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9B197E-536B-C6AC-D341-0AF0D5F03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90794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858970-7212-9228-177B-D13D3182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F6B93D-96F3-DA01-3762-42C32590B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95A5390-45AF-0DAA-69E3-503B670F9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CC563BB-78F0-0179-463A-CDD9800D4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3C65D1D-3A30-CCEC-3C0A-6DEE8CC30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85E1BAA-9148-5EA7-A21E-2544A78CF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09935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06104B-4ABB-3065-FE73-448AA4846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5EEC7D9-53BD-51AB-28CE-CFBB4C74B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56EFCDF-B8EF-D4CB-4705-3534175AF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9CFEEEE-BE65-C03C-DE2A-8E521E163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EF325CD-88CC-6922-F42C-393588AFF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86B8BA5-4EBA-576B-DA53-510452349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DDA7ACC-FCD8-6D53-650F-C79EDCE3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C88BB9D-A06A-8F38-2318-6EAAD922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40659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F49B4F-9470-2948-B6E6-7361504E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4E21791-F06E-941F-9CFB-60E6501A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AA8F53C-51CA-592C-04D1-367814AD5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8660D01-A05A-0015-A4C4-F93117EEE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89793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CB85CAC-1E62-035F-16DC-81A92EAE2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F73B82B-0BE5-E956-04BB-B6B34DB1D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C7F940-5495-DD63-8427-F01E51FC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60005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F91BD-834F-A177-327C-EF02CB196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7675F5A-DE66-9684-D73C-AD6A3FDA2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CA87CF7-F012-13EB-7D3D-8EC903ADC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8879141-D73B-F529-2B7C-7F6D20D45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8A52F72-0870-1DFF-7B94-6C11CF27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0A23F6F-D930-5CCE-1B80-B53A453D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41556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1A4250-65AB-CBB0-4369-0E3DB0B94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0ABFE22-D9D8-D281-A8E7-65BCC7861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70E8848-EBFB-E469-099D-ADA5442B9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753CCCC-C105-3B6B-5746-910CAA90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A1A4CCC-CF07-0B9E-17CE-FD2214033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B1C16F-7E6A-CB33-E215-62FB7C44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61105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A10D08-2CAD-A1B7-E55B-54B1D7947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4F27CBF-8255-72E6-8CA3-700EC3587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2F3857-8A51-529E-B08D-7FFA10F5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52DB99-F9F3-F9FC-97F1-91FE4FD4A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196A8A-14C5-03BD-54B0-D6F562017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94453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E9C4CF4-05B8-72C5-73C1-1DD89235F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8588794-4B5E-CEFE-ACA2-275D4ED81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79E6FC-0345-0C10-8999-937A4F680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7016314-536A-2552-ADE4-B9F31DFAC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47A985-C701-7E35-D6C2-009705BE0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81523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1">
  <p:cSld name="Titolo 1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1"/>
          <p:cNvSpPr txBox="1"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1973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1">
  <p:cSld name="Agenda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body" idx="1"/>
          </p:nvPr>
        </p:nvSpPr>
        <p:spPr>
          <a:xfrm>
            <a:off x="594359" y="2281918"/>
            <a:ext cx="6787747" cy="370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rmAutofit/>
          </a:bodyPr>
          <a:lstStyle>
            <a:lvl1pPr marL="457200" lvl="0" indent="-38100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400"/>
              <a:buFont typeface="Arial"/>
              <a:buChar char="•"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9815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due contenuti 2">
  <p:cSld name="Titolo e due contenuti 2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body" idx="1"/>
          </p:nvPr>
        </p:nvSpPr>
        <p:spPr>
          <a:xfrm>
            <a:off x="594360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body" idx="2"/>
          </p:nvPr>
        </p:nvSpPr>
        <p:spPr>
          <a:xfrm>
            <a:off x="5881898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42" name="Google Shape;42;p43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44305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epilogo 2">
  <p:cSld name="Riepilogo 2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4"/>
          <p:cNvSpPr txBox="1">
            <a:spLocks noGrp="1"/>
          </p:cNvSpPr>
          <p:nvPr>
            <p:ph type="body" idx="1"/>
          </p:nvPr>
        </p:nvSpPr>
        <p:spPr>
          <a:xfrm>
            <a:off x="3657600" y="2282008"/>
            <a:ext cx="7810500" cy="3699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44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53" name="Google Shape;53;p44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37556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del titolo e tabella">
  <p:cSld name="Contenuto del titolo e tabella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5"/>
          <p:cNvSpPr txBox="1"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5"/>
          <p:cNvSpPr txBox="1">
            <a:spLocks noGrp="1"/>
          </p:cNvSpPr>
          <p:nvPr>
            <p:ph type="body" idx="1"/>
          </p:nvPr>
        </p:nvSpPr>
        <p:spPr>
          <a:xfrm>
            <a:off x="603885" y="584005"/>
            <a:ext cx="2825115" cy="399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45"/>
          <p:cNvSpPr txBox="1">
            <a:spLocks noGrp="1"/>
          </p:cNvSpPr>
          <p:nvPr>
            <p:ph type="body" idx="2"/>
          </p:nvPr>
        </p:nvSpPr>
        <p:spPr>
          <a:xfrm>
            <a:off x="3670934" y="584005"/>
            <a:ext cx="7926705" cy="399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64" name="Google Shape;64;p45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6225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 ">
  <p:cSld name="Titolo e contenuto "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6"/>
          <p:cNvSpPr txBox="1"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6"/>
          <p:cNvSpPr txBox="1">
            <a:spLocks noGrp="1"/>
          </p:cNvSpPr>
          <p:nvPr>
            <p:ph type="body" idx="1"/>
          </p:nvPr>
        </p:nvSpPr>
        <p:spPr>
          <a:xfrm>
            <a:off x="603885" y="457201"/>
            <a:ext cx="5198269" cy="2305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eriod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lphaLcPeriod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arenR"/>
              <a:defRPr sz="2000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None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eriod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6"/>
          <p:cNvSpPr txBox="1">
            <a:spLocks noGrp="1"/>
          </p:cNvSpPr>
          <p:nvPr>
            <p:ph type="body" idx="2"/>
          </p:nvPr>
        </p:nvSpPr>
        <p:spPr>
          <a:xfrm>
            <a:off x="594360" y="2810595"/>
            <a:ext cx="5198269" cy="331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46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77" name="Google Shape;77;p46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00739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due contenuti">
  <p:cSld name="Titolo e due contenuti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8"/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8"/>
          <p:cNvSpPr txBox="1">
            <a:spLocks noGrp="1"/>
          </p:cNvSpPr>
          <p:nvPr>
            <p:ph type="body" idx="1"/>
          </p:nvPr>
        </p:nvSpPr>
        <p:spPr>
          <a:xfrm>
            <a:off x="595523" y="2676525"/>
            <a:ext cx="5746750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48"/>
          <p:cNvSpPr txBox="1">
            <a:spLocks noGrp="1"/>
          </p:cNvSpPr>
          <p:nvPr>
            <p:ph type="body" idx="2"/>
          </p:nvPr>
        </p:nvSpPr>
        <p:spPr>
          <a:xfrm>
            <a:off x="7620000" y="2676525"/>
            <a:ext cx="3947160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48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8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015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olo e due contenuti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igura a mano libera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3" name="Figura a mano libera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4" name="Figura a mano libera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2" name="Segnaposto contenut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marL="283464" indent="-283464">
              <a:spcBef>
                <a:spcPts val="1800"/>
              </a:spcBef>
              <a:defRPr lang="it-IT" sz="2000"/>
            </a:lvl2pPr>
            <a:lvl3pPr marL="594360" indent="-283464">
              <a:spcBef>
                <a:spcPts val="1800"/>
              </a:spcBef>
              <a:defRPr lang="it-IT" sz="2000"/>
            </a:lvl3pPr>
            <a:lvl4pPr marL="822960" indent="-283464">
              <a:spcBef>
                <a:spcPts val="1800"/>
              </a:spcBef>
              <a:defRPr lang="it-IT" sz="2000"/>
            </a:lvl4pPr>
            <a:lvl5pPr marL="1005840"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3" name="Segnaposto contenut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marL="283464" indent="-283464">
              <a:spcBef>
                <a:spcPts val="1800"/>
              </a:spcBef>
              <a:defRPr lang="it-IT" sz="2000"/>
            </a:lvl2pPr>
            <a:lvl3pPr marL="548640" indent="-283464">
              <a:spcBef>
                <a:spcPts val="1800"/>
              </a:spcBef>
              <a:defRPr lang="it-IT" sz="2000"/>
            </a:lvl3pPr>
            <a:lvl4pPr marL="822960" indent="-283464">
              <a:spcBef>
                <a:spcPts val="1800"/>
              </a:spcBef>
              <a:defRPr lang="it-IT" sz="2000"/>
            </a:lvl4pPr>
            <a:lvl5pPr marL="1005840"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323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65F67E6-0DD5-254A-CE2E-1702DE24A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502D929-297A-8418-C95E-139848C07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B05D8C1-39D7-B426-718C-24A7BAC12C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90AF82-D2E6-BE88-BB6A-4FBAF7AD50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6BE614-238E-76D7-EB19-B2E125089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751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3" r:id="rId18"/>
    <p:sldLayoutId id="2147483663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</a:pPr>
            <a:r>
              <a:rPr lang="it-IT" sz="6000" b="1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CONCORSO ORDINARIO DOCENTI</a:t>
            </a:r>
            <a:endParaRPr dirty="0"/>
          </a:p>
        </p:txBody>
      </p:sp>
      <p:sp>
        <p:nvSpPr>
          <p:cNvPr id="139" name="Google Shape;139;p1"/>
          <p:cNvSpPr txBox="1"/>
          <p:nvPr/>
        </p:nvSpPr>
        <p:spPr>
          <a:xfrm>
            <a:off x="180752" y="191916"/>
            <a:ext cx="38170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Luogo, data</a:t>
            </a:r>
            <a:r>
              <a:rPr lang="it-IT" sz="16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endParaRPr dirty="0"/>
          </a:p>
        </p:txBody>
      </p:sp>
      <p:sp>
        <p:nvSpPr>
          <p:cNvPr id="140" name="Google Shape;140;p1"/>
          <p:cNvSpPr txBox="1"/>
          <p:nvPr/>
        </p:nvSpPr>
        <p:spPr>
          <a:xfrm>
            <a:off x="6309904" y="4157946"/>
            <a:ext cx="4258859" cy="84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ranklin Gothic"/>
              <a:buNone/>
            </a:pPr>
            <a:r>
              <a:rPr lang="it-IT" sz="18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D.M. 26 ottobre 2023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ibre Franklin"/>
              <a:buNone/>
            </a:pPr>
            <a:endParaRPr sz="18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ranklin Gothic"/>
              <a:buNone/>
            </a:pPr>
            <a:r>
              <a:rPr lang="it-IT" sz="18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Prova orale - Classe di concorso</a:t>
            </a:r>
            <a:endParaRPr dirty="0"/>
          </a:p>
        </p:txBody>
      </p:sp>
      <p:sp>
        <p:nvSpPr>
          <p:cNvPr id="141" name="Google Shape;141;p1"/>
          <p:cNvSpPr txBox="1"/>
          <p:nvPr/>
        </p:nvSpPr>
        <p:spPr>
          <a:xfrm>
            <a:off x="9303486" y="6362344"/>
            <a:ext cx="2888514" cy="336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Candidato:</a:t>
            </a:r>
            <a:endParaRPr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ABB76E0-5CB3-E149-938B-91EF66E02173}"/>
              </a:ext>
            </a:extLst>
          </p:cNvPr>
          <p:cNvSpPr txBox="1"/>
          <p:nvPr/>
        </p:nvSpPr>
        <p:spPr>
          <a:xfrm>
            <a:off x="1983036" y="316184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 txBox="1">
            <a:spLocks noGrp="1"/>
          </p:cNvSpPr>
          <p:nvPr>
            <p:ph type="title"/>
          </p:nvPr>
        </p:nvSpPr>
        <p:spPr>
          <a:xfrm>
            <a:off x="4901771" y="410172"/>
            <a:ext cx="6787747" cy="159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 sz="4400" b="1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Traccia n. …</a:t>
            </a:r>
            <a:endParaRPr lang="it-IT" dirty="0"/>
          </a:p>
        </p:txBody>
      </p:sp>
      <p:sp>
        <p:nvSpPr>
          <p:cNvPr id="148" name="Google Shape;148;p2"/>
          <p:cNvSpPr txBox="1">
            <a:spLocks noGrp="1"/>
          </p:cNvSpPr>
          <p:nvPr>
            <p:ph type="body" idx="1"/>
          </p:nvPr>
        </p:nvSpPr>
        <p:spPr>
          <a:xfrm>
            <a:off x="898350" y="2445298"/>
            <a:ext cx="10395300" cy="400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0" bIns="0" anchor="t" anchorCtr="0">
            <a:normAutofit/>
          </a:bodyPr>
          <a:lstStyle/>
          <a:p>
            <a:pPr marL="283464" marR="0" lvl="0" indent="-25488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ct val="100000"/>
              <a:buFont typeface="Arial"/>
              <a:buChar char="•"/>
            </a:pPr>
            <a:r>
              <a:rPr lang="it-IT" sz="20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Ambito disciplinare e nucleo tematico:</a:t>
            </a:r>
            <a:endParaRPr lang="it-IT" sz="2000" b="1" i="0" u="none" strike="noStrike" cap="none" dirty="0">
              <a:solidFill>
                <a:schemeClr val="tx2">
                  <a:lumMod val="75000"/>
                  <a:lumOff val="25000"/>
                </a:schemeClr>
              </a:solidFill>
              <a:latin typeface="Libre Franklin" pitchFamily="2" charset="77"/>
              <a:sym typeface="Libre Franklin"/>
            </a:endParaRPr>
          </a:p>
          <a:p>
            <a:pPr marL="283464" marR="0" lvl="0" indent="-254889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ct val="100000"/>
              <a:buFont typeface="Arial"/>
              <a:buChar char="•"/>
            </a:pPr>
            <a:r>
              <a:rPr lang="it-IT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Altre d</a:t>
            </a:r>
            <a:r>
              <a:rPr lang="it-IT" sz="20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iscipline </a:t>
            </a:r>
            <a:r>
              <a:rPr lang="it-IT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coinvolte</a:t>
            </a:r>
            <a:r>
              <a:rPr lang="it-IT" sz="20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 lang="it-IT" sz="2000" dirty="0">
              <a:solidFill>
                <a:schemeClr val="tx1"/>
              </a:solidFill>
              <a:latin typeface="Libre Franklin" pitchFamily="2" charset="77"/>
            </a:endParaRPr>
          </a:p>
          <a:p>
            <a:pPr marL="283464" marR="0" lvl="0" indent="-254889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ct val="100000"/>
              <a:buFont typeface="Arial"/>
              <a:buChar char="•"/>
            </a:pPr>
            <a:r>
              <a:rPr lang="it-IT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</a:t>
            </a:r>
            <a:r>
              <a:rPr lang="it-IT" sz="20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estinatari:  </a:t>
            </a:r>
            <a:endParaRPr lang="it-IT" dirty="0">
              <a:solidFill>
                <a:schemeClr val="tx1"/>
              </a:solidFill>
            </a:endParaRPr>
          </a:p>
          <a:p>
            <a:pPr marL="283464" marR="0" lvl="0" indent="-254889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ct val="100000"/>
              <a:buFont typeface="Arial"/>
              <a:buChar char="•"/>
            </a:pPr>
            <a:r>
              <a:rPr lang="it-IT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Altri i</a:t>
            </a:r>
            <a:r>
              <a:rPr lang="it-IT" sz="20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nsegnanti coinvolti:</a:t>
            </a:r>
            <a:endParaRPr lang="it-IT" dirty="0">
              <a:solidFill>
                <a:schemeClr val="tx1"/>
              </a:solidFill>
            </a:endParaRPr>
          </a:p>
          <a:p>
            <a:pPr marL="283464" marR="0" lvl="0" indent="-254889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ct val="100000"/>
              <a:buFont typeface="Arial"/>
              <a:buChar char="•"/>
            </a:pPr>
            <a:r>
              <a:rPr lang="it-IT" sz="20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Contesto:</a:t>
            </a:r>
            <a:endParaRPr lang="it-IT" sz="2000" b="1" i="0" u="none" strike="noStrike" cap="none" dirty="0">
              <a:solidFill>
                <a:schemeClr val="tx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>
            <a:spLocks noGrp="1"/>
          </p:cNvSpPr>
          <p:nvPr>
            <p:ph type="title"/>
          </p:nvPr>
        </p:nvSpPr>
        <p:spPr>
          <a:xfrm>
            <a:off x="420053" y="814780"/>
            <a:ext cx="9778365" cy="113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 sz="4400" b="1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Analisi del contesto</a:t>
            </a:r>
            <a:br>
              <a:rPr lang="it-IT" sz="4400" b="1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endParaRPr sz="4400" b="0" i="0" u="none" strike="noStrike" cap="none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grpSp>
        <p:nvGrpSpPr>
          <p:cNvPr id="155" name="Google Shape;155;p3"/>
          <p:cNvGrpSpPr/>
          <p:nvPr/>
        </p:nvGrpSpPr>
        <p:grpSpPr>
          <a:xfrm>
            <a:off x="1119579" y="1557338"/>
            <a:ext cx="10167545" cy="4757345"/>
            <a:chOff x="1527982" y="2625503"/>
            <a:chExt cx="9135988" cy="2539903"/>
          </a:xfrm>
        </p:grpSpPr>
        <p:grpSp>
          <p:nvGrpSpPr>
            <p:cNvPr id="156" name="Google Shape;156;p3"/>
            <p:cNvGrpSpPr/>
            <p:nvPr/>
          </p:nvGrpSpPr>
          <p:grpSpPr>
            <a:xfrm>
              <a:off x="1527982" y="2625503"/>
              <a:ext cx="9135988" cy="2539903"/>
              <a:chOff x="3392" y="1689246"/>
              <a:chExt cx="9135988" cy="2539903"/>
            </a:xfrm>
          </p:grpSpPr>
          <p:sp>
            <p:nvSpPr>
              <p:cNvPr id="157" name="Google Shape;157;p3"/>
              <p:cNvSpPr/>
              <p:nvPr/>
            </p:nvSpPr>
            <p:spPr>
              <a:xfrm>
                <a:off x="3437" y="1689366"/>
                <a:ext cx="2066955" cy="826782"/>
              </a:xfrm>
              <a:prstGeom prst="rect">
                <a:avLst/>
              </a:prstGeom>
              <a:solidFill>
                <a:srgbClr val="FBE283"/>
              </a:solidFill>
              <a:ln w="12700" cap="flat" cmpd="sng">
                <a:solidFill>
                  <a:schemeClr val="dk1">
                    <a:hueOff val="0"/>
                    <a:satOff val="0"/>
                    <a:lumOff val="0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3"/>
              <p:cNvSpPr txBox="1"/>
              <p:nvPr/>
            </p:nvSpPr>
            <p:spPr>
              <a:xfrm>
                <a:off x="3392" y="1689246"/>
                <a:ext cx="2066955" cy="826782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dk1">
                    <a:hueOff val="0"/>
                    <a:satOff val="0"/>
                    <a:lumOff val="0"/>
                  </a:schemeClr>
                </a:solidFill>
              </a:ln>
            </p:spPr>
            <p:txBody>
              <a:bodyPr spcFirstLastPara="1" wrap="square" lIns="277350" tIns="158475" rIns="277350" bIns="1584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900"/>
                  <a:buFont typeface="Libre Franklin"/>
                  <a:buNone/>
                </a:pPr>
                <a:r>
                  <a:rPr lang="it-IT" sz="3900" dirty="0" err="1">
                    <a:latin typeface="Libre Franklin"/>
                    <a:ea typeface="Libre Franklin"/>
                    <a:cs typeface="Libre Franklin"/>
                    <a:sym typeface="Libre Franklin"/>
                  </a:rPr>
                  <a:t>S</a:t>
                </a:r>
                <a:endParaRPr dirty="0"/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3437" y="2516149"/>
                <a:ext cx="2066955" cy="1712880"/>
              </a:xfrm>
              <a:prstGeom prst="rect">
                <a:avLst/>
              </a:prstGeom>
              <a:solidFill>
                <a:srgbClr val="FDF4D8">
                  <a:alpha val="89803"/>
                </a:srgbClr>
              </a:solidFill>
              <a:ln w="12700" cap="flat" cmpd="sng">
                <a:solidFill>
                  <a:schemeClr val="dk1">
                    <a:hueOff val="0"/>
                    <a:satOff val="0"/>
                    <a:lumOff val="0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3"/>
              <p:cNvSpPr txBox="1"/>
              <p:nvPr/>
            </p:nvSpPr>
            <p:spPr>
              <a:xfrm>
                <a:off x="3437" y="2516149"/>
                <a:ext cx="2067000" cy="1713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dk1">
                    <a:hueOff val="0"/>
                    <a:satOff val="0"/>
                    <a:lumOff val="0"/>
                  </a:schemeClr>
                </a:solidFill>
              </a:ln>
            </p:spPr>
            <p:txBody>
              <a:bodyPr spcFirstLastPara="1" wrap="square" lIns="64000" tIns="64000" rIns="85325" bIns="96000" anchor="t" anchorCtr="0">
                <a:noAutofit/>
              </a:bodyPr>
              <a:lstStyle/>
              <a:p>
                <a:pPr marL="114300" marR="0" lvl="1" indent="-1143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lang="it-IT" sz="12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Presenza di SMART board in tutte le classi</a:t>
                </a:r>
              </a:p>
              <a:p>
                <a:pPr marL="114300" marR="0" lvl="1" indent="-114300" algn="l" rtl="0">
                  <a:lnSpc>
                    <a:spcPct val="90000"/>
                  </a:lnSpc>
                  <a:spcBef>
                    <a:spcPts val="18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lang="it-IT" sz="12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Aula </a:t>
                </a:r>
                <a:r>
                  <a:rPr lang="it-IT" sz="1200" dirty="0">
                    <a:solidFill>
                      <a:schemeClr val="dk1"/>
                    </a:solidFill>
                  </a:rPr>
                  <a:t>di informatica fornita </a:t>
                </a:r>
                <a:r>
                  <a:rPr lang="it-IT" sz="12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di vari strumenti per attività laboratoriali. </a:t>
                </a:r>
              </a:p>
              <a:p>
                <a:pPr marL="114300" marR="0" lvl="1" indent="-114300" algn="l" rtl="0">
                  <a:lnSpc>
                    <a:spcPct val="90000"/>
                  </a:lnSpc>
                  <a:spcBef>
                    <a:spcPts val="18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•"/>
                </a:pPr>
                <a:r>
                  <a:rPr lang="it-IT" sz="1200" dirty="0">
                    <a:solidFill>
                      <a:schemeClr val="dk1"/>
                    </a:solidFill>
                  </a:rPr>
                  <a:t>Presenza i tablet (con fotocamera) per ogni studente da utilizzare in classe. </a:t>
                </a:r>
              </a:p>
              <a:p>
                <a:pPr marL="114300" marR="0" lvl="1" indent="-114300" algn="l" rtl="0">
                  <a:lnSpc>
                    <a:spcPct val="90000"/>
                  </a:lnSpc>
                  <a:spcBef>
                    <a:spcPts val="18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•"/>
                </a:pPr>
                <a:r>
                  <a:rPr lang="it-IT" sz="1200" dirty="0">
                    <a:solidFill>
                      <a:schemeClr val="dk1"/>
                    </a:solidFill>
                  </a:rPr>
                  <a:t>Buone dinamiche relazionali, classe unita.</a:t>
                </a:r>
              </a:p>
              <a:p>
                <a:pPr marL="114300" marR="0" lvl="1" indent="-114300" algn="l" rtl="0">
                  <a:lnSpc>
                    <a:spcPct val="90000"/>
                  </a:lnSpc>
                  <a:spcBef>
                    <a:spcPts val="18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•"/>
                </a:pPr>
                <a:r>
                  <a:rPr lang="it-IT" sz="1200" dirty="0">
                    <a:solidFill>
                      <a:schemeClr val="dk1"/>
                    </a:solidFill>
                  </a:rPr>
                  <a:t>Buona collaborazione tra le insegnanti delle classi. </a:t>
                </a:r>
              </a:p>
              <a:p>
                <a:pPr marL="228600" marR="0" lvl="1" indent="-95250" algn="l" rtl="0">
                  <a:lnSpc>
                    <a:spcPct val="90000"/>
                  </a:lnSpc>
                  <a:spcBef>
                    <a:spcPts val="180"/>
                  </a:spcBef>
                  <a:spcAft>
                    <a:spcPts val="0"/>
                  </a:spcAft>
                  <a:buClr>
                    <a:schemeClr val="lt1"/>
                  </a:buClr>
                  <a:buSzPts val="2100"/>
                  <a:buFont typeface="Libre Franklin"/>
                  <a:buNone/>
                </a:pPr>
                <a:endParaRPr sz="2100" b="0" i="0" u="none" strike="noStrike" cap="none" dirty="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2359766" y="1689366"/>
                <a:ext cx="2066955" cy="826782"/>
              </a:xfrm>
              <a:prstGeom prst="rect">
                <a:avLst/>
              </a:prstGeom>
              <a:solidFill>
                <a:srgbClr val="9AE861"/>
              </a:solidFill>
              <a:ln w="12700" cap="flat" cmpd="sng">
                <a:solidFill>
                  <a:schemeClr val="dk1">
                    <a:hueOff val="0"/>
                    <a:satOff val="0"/>
                    <a:lumOff val="0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3"/>
              <p:cNvSpPr txBox="1"/>
              <p:nvPr/>
            </p:nvSpPr>
            <p:spPr>
              <a:xfrm>
                <a:off x="2359766" y="1689366"/>
                <a:ext cx="2066955" cy="826782"/>
              </a:xfrm>
              <a:prstGeom prst="rect">
                <a:avLst/>
              </a:prstGeom>
              <a:noFill/>
              <a:ln>
                <a:solidFill>
                  <a:schemeClr val="dk1">
                    <a:hueOff val="0"/>
                    <a:satOff val="0"/>
                    <a:lumOff val="0"/>
                  </a:schemeClr>
                </a:solidFill>
              </a:ln>
            </p:spPr>
            <p:txBody>
              <a:bodyPr spcFirstLastPara="1" wrap="square" lIns="277350" tIns="158475" rIns="277350" bIns="1584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900"/>
                  <a:buFont typeface="Libre Franklin"/>
                  <a:buNone/>
                </a:pPr>
                <a:r>
                  <a:rPr lang="it-IT" sz="3900" dirty="0" err="1">
                    <a:latin typeface="Libre Franklin"/>
                    <a:ea typeface="Libre Franklin"/>
                    <a:cs typeface="Libre Franklin"/>
                    <a:sym typeface="Libre Franklin"/>
                  </a:rPr>
                  <a:t>W</a:t>
                </a:r>
                <a:endParaRPr dirty="0"/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2359766" y="2516149"/>
                <a:ext cx="2066955" cy="1712880"/>
              </a:xfrm>
              <a:prstGeom prst="rect">
                <a:avLst/>
              </a:prstGeom>
              <a:solidFill>
                <a:srgbClr val="DFF5D1">
                  <a:alpha val="89803"/>
                </a:srgbClr>
              </a:solidFill>
              <a:ln w="12700" cap="flat" cmpd="sng">
                <a:solidFill>
                  <a:schemeClr val="dk1">
                    <a:hueOff val="0"/>
                    <a:satOff val="0"/>
                    <a:lumOff val="0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3"/>
              <p:cNvSpPr txBox="1"/>
              <p:nvPr/>
            </p:nvSpPr>
            <p:spPr>
              <a:xfrm>
                <a:off x="2359766" y="2516149"/>
                <a:ext cx="2066955" cy="1712880"/>
              </a:xfrm>
              <a:prstGeom prst="rect">
                <a:avLst/>
              </a:prstGeom>
              <a:noFill/>
              <a:ln>
                <a:solidFill>
                  <a:schemeClr val="dk1">
                    <a:hueOff val="0"/>
                    <a:satOff val="0"/>
                    <a:lumOff val="0"/>
                  </a:schemeClr>
                </a:solidFill>
              </a:ln>
            </p:spPr>
            <p:txBody>
              <a:bodyPr spcFirstLastPara="1" wrap="square" lIns="64000" tIns="64000" rIns="85325" bIns="96000" anchor="t" anchorCtr="0">
                <a:noAutofit/>
              </a:bodyPr>
              <a:lstStyle/>
              <a:p>
                <a:pPr marL="114300" marR="0" lvl="1" indent="-1143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lang="it-IT" sz="1200" dirty="0">
                    <a:solidFill>
                      <a:schemeClr val="dk1"/>
                    </a:solidFill>
                  </a:rPr>
                  <a:t>Ambiente con arredi tradizionali</a:t>
                </a:r>
              </a:p>
              <a:p>
                <a:pPr marL="114300" marR="0" lvl="1" indent="-1143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endParaRPr sz="12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4716096" y="1689366"/>
                <a:ext cx="2066955" cy="826782"/>
              </a:xfrm>
              <a:prstGeom prst="rect">
                <a:avLst/>
              </a:prstGeom>
              <a:solidFill>
                <a:srgbClr val="48CE78"/>
              </a:solidFill>
              <a:ln w="12700" cap="flat" cmpd="sng">
                <a:solidFill>
                  <a:schemeClr val="dk1">
                    <a:hueOff val="0"/>
                    <a:satOff val="0"/>
                    <a:lumOff val="0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3"/>
              <p:cNvSpPr txBox="1"/>
              <p:nvPr/>
            </p:nvSpPr>
            <p:spPr>
              <a:xfrm>
                <a:off x="4716096" y="1689366"/>
                <a:ext cx="2066955" cy="826782"/>
              </a:xfrm>
              <a:prstGeom prst="rect">
                <a:avLst/>
              </a:prstGeom>
              <a:noFill/>
              <a:ln>
                <a:solidFill>
                  <a:schemeClr val="dk1">
                    <a:hueOff val="0"/>
                    <a:satOff val="0"/>
                    <a:lumOff val="0"/>
                  </a:schemeClr>
                </a:solidFill>
              </a:ln>
            </p:spPr>
            <p:txBody>
              <a:bodyPr spcFirstLastPara="1" wrap="square" lIns="277350" tIns="158475" rIns="277350" bIns="1584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900"/>
                  <a:buFont typeface="Libre Franklin"/>
                  <a:buNone/>
                </a:pPr>
                <a:r>
                  <a:rPr lang="it-IT" sz="3900" dirty="0">
                    <a:latin typeface="Libre Franklin"/>
                    <a:ea typeface="Libre Franklin"/>
                    <a:cs typeface="Libre Franklin"/>
                    <a:sym typeface="Libre Franklin"/>
                  </a:rPr>
                  <a:t>O</a:t>
                </a:r>
                <a:endParaRPr dirty="0"/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4716096" y="2516149"/>
                <a:ext cx="2066955" cy="1712880"/>
              </a:xfrm>
              <a:prstGeom prst="rect">
                <a:avLst/>
              </a:prstGeom>
              <a:solidFill>
                <a:srgbClr val="CEEBD9">
                  <a:alpha val="89803"/>
                </a:srgbClr>
              </a:solidFill>
              <a:ln w="12700" cap="flat" cmpd="sng">
                <a:solidFill>
                  <a:schemeClr val="dk1">
                    <a:hueOff val="0"/>
                    <a:satOff val="0"/>
                    <a:lumOff val="0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3"/>
              <p:cNvSpPr txBox="1"/>
              <p:nvPr/>
            </p:nvSpPr>
            <p:spPr>
              <a:xfrm>
                <a:off x="4716096" y="2516149"/>
                <a:ext cx="2066955" cy="1712880"/>
              </a:xfrm>
              <a:prstGeom prst="rect">
                <a:avLst/>
              </a:prstGeom>
              <a:noFill/>
              <a:ln>
                <a:solidFill>
                  <a:schemeClr val="dk1">
                    <a:hueOff val="0"/>
                    <a:satOff val="0"/>
                    <a:lumOff val="0"/>
                  </a:schemeClr>
                </a:solidFill>
              </a:ln>
            </p:spPr>
            <p:txBody>
              <a:bodyPr spcFirstLastPara="1" wrap="square" lIns="64000" tIns="64000" rIns="85325" bIns="96000" anchor="t" anchorCtr="0">
                <a:noAutofit/>
              </a:bodyPr>
              <a:lstStyle/>
              <a:p>
                <a:pPr marL="114300" marR="0" lvl="1" indent="-1143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lang="it-IT" sz="1200" dirty="0">
                    <a:solidFill>
                      <a:schemeClr val="dk1"/>
                    </a:solidFill>
                  </a:rPr>
                  <a:t>Dotazione di connessione internet per la scuola. </a:t>
                </a:r>
              </a:p>
              <a:p>
                <a:pPr marL="114300" marR="0" lvl="1" indent="-1143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•"/>
                </a:pPr>
                <a:r>
                  <a:rPr lang="it-IT" sz="1200" dirty="0">
                    <a:solidFill>
                      <a:schemeClr val="dk1"/>
                    </a:solidFill>
                  </a:rPr>
                  <a:t>Disponibilità alla collaborazione tra colleghi dei diversi plessi dell’ I.C. </a:t>
                </a:r>
              </a:p>
              <a:p>
                <a:pPr marL="91440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7072425" y="1689366"/>
                <a:ext cx="2066955" cy="826782"/>
              </a:xfrm>
              <a:prstGeom prst="rect">
                <a:avLst/>
              </a:prstGeom>
              <a:solidFill>
                <a:srgbClr val="4392A0"/>
              </a:solidFill>
              <a:ln w="12700" cap="flat" cmpd="sng">
                <a:solidFill>
                  <a:schemeClr val="dk1">
                    <a:hueOff val="0"/>
                    <a:satOff val="0"/>
                    <a:lumOff val="0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3"/>
              <p:cNvSpPr txBox="1"/>
              <p:nvPr/>
            </p:nvSpPr>
            <p:spPr>
              <a:xfrm>
                <a:off x="7072425" y="1689366"/>
                <a:ext cx="2066955" cy="826782"/>
              </a:xfrm>
              <a:prstGeom prst="rect">
                <a:avLst/>
              </a:prstGeom>
              <a:noFill/>
              <a:ln>
                <a:solidFill>
                  <a:schemeClr val="dk1">
                    <a:hueOff val="0"/>
                    <a:satOff val="0"/>
                    <a:lumOff val="0"/>
                  </a:schemeClr>
                </a:solidFill>
              </a:ln>
            </p:spPr>
            <p:txBody>
              <a:bodyPr spcFirstLastPara="1" wrap="square" lIns="277350" tIns="158475" rIns="277350" bIns="1584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900"/>
                  <a:buFont typeface="Libre Franklin"/>
                  <a:buNone/>
                </a:pPr>
                <a:r>
                  <a:rPr lang="it-IT" sz="3900" dirty="0">
                    <a:latin typeface="Libre Franklin"/>
                    <a:ea typeface="Libre Franklin"/>
                    <a:cs typeface="Libre Franklin"/>
                    <a:sym typeface="Libre Franklin"/>
                  </a:rPr>
                  <a:t>T</a:t>
                </a:r>
                <a:endParaRPr dirty="0"/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7072425" y="2516149"/>
                <a:ext cx="2066955" cy="1712880"/>
              </a:xfrm>
              <a:prstGeom prst="rect">
                <a:avLst/>
              </a:prstGeom>
              <a:solidFill>
                <a:srgbClr val="CEDADE">
                  <a:alpha val="89803"/>
                </a:srgbClr>
              </a:solidFill>
              <a:ln w="12700" cap="flat" cmpd="sng">
                <a:solidFill>
                  <a:schemeClr val="dk1">
                    <a:hueOff val="0"/>
                    <a:satOff val="0"/>
                    <a:lumOff val="0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3"/>
              <p:cNvSpPr txBox="1"/>
              <p:nvPr/>
            </p:nvSpPr>
            <p:spPr>
              <a:xfrm>
                <a:off x="7072425" y="2516149"/>
                <a:ext cx="2066955" cy="1712880"/>
              </a:xfrm>
              <a:prstGeom prst="rect">
                <a:avLst/>
              </a:prstGeom>
              <a:noFill/>
              <a:ln>
                <a:solidFill>
                  <a:schemeClr val="dk1">
                    <a:hueOff val="0"/>
                    <a:satOff val="0"/>
                    <a:lumOff val="0"/>
                  </a:schemeClr>
                </a:solidFill>
              </a:ln>
            </p:spPr>
            <p:txBody>
              <a:bodyPr spcFirstLastPara="1" wrap="square" lIns="64000" tIns="64000" rIns="85325" bIns="96000" anchor="t" anchorCtr="0">
                <a:noAutofit/>
              </a:bodyPr>
              <a:lstStyle/>
              <a:p>
                <a:pPr marL="114300" marR="0" lvl="1" indent="-1143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lang="it-IT" sz="1200" dirty="0">
                    <a:solidFill>
                      <a:schemeClr val="dk1"/>
                    </a:solidFill>
                  </a:rPr>
                  <a:t>Difficoltà a collaborare con famiglie provenienti da altri paesi. </a:t>
                </a:r>
                <a:endParaRPr sz="12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3" name="Google Shape;173;p3"/>
            <p:cNvSpPr txBox="1"/>
            <p:nvPr/>
          </p:nvSpPr>
          <p:spPr>
            <a:xfrm>
              <a:off x="1579880" y="3182349"/>
              <a:ext cx="1935000" cy="155837"/>
            </a:xfrm>
            <a:prstGeom prst="rect">
              <a:avLst/>
            </a:prstGeom>
            <a:noFill/>
            <a:ln>
              <a:solidFill>
                <a:schemeClr val="dk1">
                  <a:hueOff val="0"/>
                  <a:satOff val="0"/>
                  <a:lumOff val="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100" b="1" dirty="0">
                  <a:latin typeface="Arial"/>
                  <a:ea typeface="Arial"/>
                  <a:cs typeface="Arial"/>
                  <a:sym typeface="Arial"/>
                </a:rPr>
                <a:t>Punti di forza </a:t>
              </a:r>
              <a:endParaRPr dirty="0"/>
            </a:p>
          </p:txBody>
        </p:sp>
        <p:sp>
          <p:nvSpPr>
            <p:cNvPr id="174" name="Google Shape;174;p3"/>
            <p:cNvSpPr txBox="1"/>
            <p:nvPr/>
          </p:nvSpPr>
          <p:spPr>
            <a:xfrm>
              <a:off x="3990020" y="3161084"/>
              <a:ext cx="1935000" cy="155838"/>
            </a:xfrm>
            <a:prstGeom prst="rect">
              <a:avLst/>
            </a:prstGeom>
            <a:noFill/>
            <a:ln>
              <a:solidFill>
                <a:schemeClr val="dk1">
                  <a:hueOff val="0"/>
                  <a:satOff val="0"/>
                  <a:lumOff val="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100" b="1" dirty="0">
                  <a:latin typeface="Arial"/>
                  <a:ea typeface="Arial"/>
                  <a:cs typeface="Arial"/>
                  <a:sym typeface="Arial"/>
                </a:rPr>
                <a:t>Punti di debolezza </a:t>
              </a:r>
              <a:endParaRPr dirty="0"/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6361151" y="3161084"/>
              <a:ext cx="1935000" cy="155838"/>
            </a:xfrm>
            <a:prstGeom prst="rect">
              <a:avLst/>
            </a:prstGeom>
            <a:noFill/>
            <a:ln>
              <a:solidFill>
                <a:schemeClr val="dk1">
                  <a:hueOff val="0"/>
                  <a:satOff val="0"/>
                  <a:lumOff val="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100" b="1" dirty="0">
                  <a:latin typeface="Arial"/>
                  <a:ea typeface="Arial"/>
                  <a:cs typeface="Arial"/>
                  <a:sym typeface="Arial"/>
                </a:rPr>
                <a:t>Opportunità </a:t>
              </a:r>
              <a:endParaRPr dirty="0"/>
            </a:p>
          </p:txBody>
        </p:sp>
        <p:sp>
          <p:nvSpPr>
            <p:cNvPr id="176" name="Google Shape;176;p3"/>
            <p:cNvSpPr txBox="1"/>
            <p:nvPr/>
          </p:nvSpPr>
          <p:spPr>
            <a:xfrm>
              <a:off x="8676994" y="3182349"/>
              <a:ext cx="1935000" cy="155838"/>
            </a:xfrm>
            <a:prstGeom prst="rect">
              <a:avLst/>
            </a:prstGeom>
            <a:noFill/>
            <a:ln>
              <a:solidFill>
                <a:schemeClr val="dk1">
                  <a:hueOff val="0"/>
                  <a:satOff val="0"/>
                  <a:lumOff val="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100" b="1" dirty="0">
                  <a:latin typeface="Arial"/>
                  <a:ea typeface="Arial"/>
                  <a:cs typeface="Arial"/>
                  <a:sym typeface="Arial"/>
                </a:rPr>
                <a:t>Minacce</a:t>
              </a:r>
              <a:r>
                <a:rPr lang="it-IT" sz="1100" b="1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Il c</a:t>
            </a:r>
            <a:r>
              <a:rPr lang="en-US" sz="32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Franklin Gothic"/>
              </a:rPr>
              <a:t>ontesto classe</a:t>
            </a:r>
            <a:endParaRPr lang="en-US" sz="3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Google Shape;183;p8"/>
          <p:cNvSpPr txBox="1">
            <a:spLocks noGrp="1"/>
          </p:cNvSpPr>
          <p:nvPr>
            <p:ph type="body" idx="1"/>
          </p:nvPr>
        </p:nvSpPr>
        <p:spPr>
          <a:xfrm>
            <a:off x="761840" y="2551176"/>
            <a:ext cx="9614060" cy="3602935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283464" marR="0" lvl="0" indent="-22860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b="1" i="0" u="none" strike="noStrike" cap="none" dirty="0" err="1">
                <a:sym typeface="Arial"/>
              </a:rPr>
              <a:t>Composizione</a:t>
            </a:r>
            <a:r>
              <a:rPr lang="en-US" b="1" i="0" u="none" strike="noStrike" cap="none" dirty="0">
                <a:sym typeface="Arial"/>
              </a:rPr>
              <a:t> </a:t>
            </a:r>
            <a:r>
              <a:rPr lang="en-US" b="1" i="0" u="none" strike="noStrike" cap="none" dirty="0" err="1">
                <a:sym typeface="Arial"/>
              </a:rPr>
              <a:t>classe</a:t>
            </a:r>
            <a:r>
              <a:rPr lang="en-US" b="0" i="0" u="none" strike="noStrike" cap="none" dirty="0">
                <a:sym typeface="Arial"/>
              </a:rPr>
              <a:t>: </a:t>
            </a:r>
            <a:endParaRPr lang="en-US" dirty="0">
              <a:sym typeface="Arial"/>
            </a:endParaRPr>
          </a:p>
          <a:p>
            <a:pPr marL="54864" marR="0" lvl="0" indent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b="1" dirty="0">
              <a:sym typeface="Arial"/>
            </a:endParaRPr>
          </a:p>
          <a:p>
            <a:pPr marL="283464" marR="0" lvl="0" indent="-22860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b="1" i="0" u="none" strike="noStrike" cap="none" dirty="0" err="1">
                <a:sym typeface="Arial"/>
              </a:rPr>
              <a:t>Risorse</a:t>
            </a:r>
            <a:r>
              <a:rPr lang="en-US" b="1" i="0" u="none" strike="noStrike" cap="none" dirty="0">
                <a:sym typeface="Arial"/>
              </a:rPr>
              <a:t>: </a:t>
            </a:r>
            <a:r>
              <a:rPr lang="en-US" i="0" u="none" strike="noStrike" cap="none" dirty="0" err="1">
                <a:sym typeface="Arial"/>
              </a:rPr>
              <a:t>presenza</a:t>
            </a:r>
            <a:r>
              <a:rPr lang="en-US" b="1" i="0" u="none" strike="noStrike" cap="none" dirty="0">
                <a:sym typeface="Arial"/>
              </a:rPr>
              <a:t> </a:t>
            </a:r>
            <a:r>
              <a:rPr lang="en-US" i="0" u="none" strike="noStrike" cap="none" dirty="0">
                <a:sym typeface="Arial"/>
              </a:rPr>
              <a:t>di </a:t>
            </a:r>
            <a:r>
              <a:rPr lang="en-US" i="0" u="none" strike="noStrike" cap="none" dirty="0" err="1">
                <a:sym typeface="Arial"/>
              </a:rPr>
              <a:t>un’insegnante</a:t>
            </a:r>
            <a:r>
              <a:rPr lang="en-US" i="0" u="none" strike="noStrike" cap="none" dirty="0">
                <a:sym typeface="Arial"/>
              </a:rPr>
              <a:t> di </a:t>
            </a:r>
            <a:r>
              <a:rPr lang="en-US" i="0" u="none" strike="noStrike" cap="none" dirty="0" err="1">
                <a:sym typeface="Arial"/>
              </a:rPr>
              <a:t>sostegno</a:t>
            </a:r>
            <a:r>
              <a:rPr lang="en-US" i="0" u="none" strike="noStrike" cap="none" dirty="0">
                <a:sym typeface="Arial"/>
              </a:rPr>
              <a:t>, </a:t>
            </a:r>
            <a:r>
              <a:rPr lang="en-US" b="0" i="0" u="none" strike="noStrike" cap="none" dirty="0" err="1">
                <a:sym typeface="Arial"/>
              </a:rPr>
              <a:t>dialogo</a:t>
            </a:r>
            <a:r>
              <a:rPr lang="en-US" b="0" i="0" u="none" strike="noStrike" cap="none" dirty="0">
                <a:sym typeface="Arial"/>
              </a:rPr>
              <a:t> </a:t>
            </a:r>
            <a:r>
              <a:rPr lang="en-US" b="0" i="0" u="none" strike="noStrike" cap="none" dirty="0" err="1">
                <a:sym typeface="Arial"/>
              </a:rPr>
              <a:t>interdisciplinare</a:t>
            </a:r>
            <a:r>
              <a:rPr lang="en-US" b="0" i="0" u="none" strike="noStrike" cap="none" dirty="0">
                <a:sym typeface="Arial"/>
              </a:rPr>
              <a:t>, </a:t>
            </a:r>
            <a:r>
              <a:rPr lang="en-US" b="0" i="0" u="none" strike="noStrike" cap="none" dirty="0" err="1">
                <a:sym typeface="Arial"/>
              </a:rPr>
              <a:t>collaborazione</a:t>
            </a:r>
            <a:r>
              <a:rPr lang="en-US" b="0" i="0" u="none" strike="noStrike" cap="none" dirty="0">
                <a:sym typeface="Arial"/>
              </a:rPr>
              <a:t> e </a:t>
            </a:r>
            <a:r>
              <a:rPr lang="en-US" b="0" i="0" u="none" strike="noStrike" cap="none" dirty="0" err="1">
                <a:sym typeface="Arial"/>
              </a:rPr>
              <a:t>coordinamento</a:t>
            </a:r>
            <a:r>
              <a:rPr lang="en-US" b="0" i="0" u="none" strike="noStrike" cap="none" dirty="0">
                <a:sym typeface="Arial"/>
              </a:rPr>
              <a:t> </a:t>
            </a:r>
            <a:r>
              <a:rPr lang="en-US" b="0" i="0" u="none" strike="noStrike" cap="none" dirty="0" err="1">
                <a:sym typeface="Arial"/>
              </a:rPr>
              <a:t>tra</a:t>
            </a:r>
            <a:r>
              <a:rPr lang="en-US" b="0" i="0" u="none" strike="noStrike" cap="none" dirty="0">
                <a:sym typeface="Arial"/>
              </a:rPr>
              <a:t> </a:t>
            </a:r>
            <a:r>
              <a:rPr lang="en-US" b="0" i="0" u="none" strike="noStrike" cap="none" dirty="0" err="1">
                <a:sym typeface="Arial"/>
              </a:rPr>
              <a:t>docenti</a:t>
            </a:r>
            <a:r>
              <a:rPr lang="en-US" b="0" i="0" u="none" strike="noStrike" cap="none" dirty="0">
                <a:sym typeface="Arial"/>
              </a:rPr>
              <a:t> di </a:t>
            </a:r>
            <a:r>
              <a:rPr lang="en-US" b="0" i="0" u="none" strike="noStrike" cap="none" dirty="0" err="1">
                <a:sym typeface="Arial"/>
              </a:rPr>
              <a:t>classe</a:t>
            </a:r>
            <a:r>
              <a:rPr lang="en-US" b="0" i="0" u="none" strike="noStrike" cap="none" dirty="0">
                <a:sym typeface="Arial"/>
              </a:rPr>
              <a:t>.</a:t>
            </a:r>
          </a:p>
          <a:p>
            <a:pPr marL="283464" marR="0" lvl="0" indent="-22860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en-US" dirty="0">
              <a:sym typeface="Arial"/>
            </a:endParaRPr>
          </a:p>
          <a:p>
            <a:pPr marL="283464" marR="0" lvl="0" indent="-22860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en-US" b="0" i="0" u="none" strike="noStrike" cap="none" dirty="0">
              <a:sym typeface="Libre Franklin"/>
            </a:endParaRPr>
          </a:p>
          <a:p>
            <a:pPr marL="283464" marR="0" lvl="0" indent="-228600">
              <a:spcBef>
                <a:spcPts val="12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b="1" i="0" u="none" strike="noStrike" cap="none" dirty="0" err="1">
                <a:sym typeface="Arial"/>
              </a:rPr>
              <a:t>Difficoltà</a:t>
            </a:r>
            <a:r>
              <a:rPr lang="en-US" b="1" i="0" u="none" strike="noStrike" cap="none" dirty="0">
                <a:sym typeface="Arial"/>
              </a:rPr>
              <a:t> o </a:t>
            </a:r>
            <a:r>
              <a:rPr lang="en-US" b="1" i="0" u="none" strike="noStrike" cap="none" dirty="0" err="1">
                <a:sym typeface="Arial"/>
              </a:rPr>
              <a:t>disabilità</a:t>
            </a:r>
            <a:r>
              <a:rPr lang="en-US" b="1" i="0" u="none" strike="noStrike" cap="none" dirty="0">
                <a:sym typeface="Arial"/>
              </a:rPr>
              <a:t>:</a:t>
            </a:r>
            <a:endParaRPr lang="en-US" b="0" i="0" u="none" strike="noStrike" cap="none" dirty="0">
              <a:sym typeface="Libre Franklin"/>
            </a:endParaRPr>
          </a:p>
        </p:txBody>
      </p:sp>
      <p:pic>
        <p:nvPicPr>
          <p:cNvPr id="7" name="Immagine 6" descr="Immagine che contiene design, schermata, lima di ferro&#10;&#10;Descrizione generata automaticamente">
            <a:extLst>
              <a:ext uri="{FF2B5EF4-FFF2-40B4-BE49-F238E27FC236}">
                <a16:creationId xmlns:a16="http://schemas.microsoft.com/office/drawing/2014/main" id="{8D453A76-5137-5EA6-F0AD-F75A47FB1D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42" r="2" b="2"/>
          <a:stretch/>
        </p:blipFill>
        <p:spPr>
          <a:xfrm>
            <a:off x="9525087" y="4199152"/>
            <a:ext cx="2666913" cy="26588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 txBox="1">
            <a:spLocks noGrp="1"/>
          </p:cNvSpPr>
          <p:nvPr>
            <p:ph type="title"/>
          </p:nvPr>
        </p:nvSpPr>
        <p:spPr>
          <a:xfrm>
            <a:off x="655686" y="-12516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 sz="4400" b="1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Analisi BES</a:t>
            </a:r>
            <a:endParaRPr dirty="0"/>
          </a:p>
        </p:txBody>
      </p:sp>
      <p:graphicFrame>
        <p:nvGraphicFramePr>
          <p:cNvPr id="195" name="Google Shape;195;p9"/>
          <p:cNvGraphicFramePr/>
          <p:nvPr>
            <p:extLst>
              <p:ext uri="{D42A27DB-BD31-4B8C-83A1-F6EECF244321}">
                <p14:modId xmlns:p14="http://schemas.microsoft.com/office/powerpoint/2010/main" val="2068313883"/>
              </p:ext>
            </p:extLst>
          </p:nvPr>
        </p:nvGraphicFramePr>
        <p:xfrm>
          <a:off x="2984500" y="1346200"/>
          <a:ext cx="7115834" cy="466641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48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3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3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406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b="1" u="none" strike="noStrike" cap="none" dirty="0">
                          <a:solidFill>
                            <a:schemeClr val="dk1"/>
                          </a:solidFill>
                        </a:rPr>
                        <a:t>ALUNNO</a:t>
                      </a:r>
                      <a:endParaRPr sz="1800" b="1" u="none" strike="noStrike" cap="none" dirty="0">
                        <a:solidFill>
                          <a:schemeClr val="dk1"/>
                        </a:solidFill>
                        <a:latin typeface="Franklin Gothic"/>
                        <a:ea typeface="Franklin Gothic"/>
                        <a:cs typeface="Franklin Gothic"/>
                        <a:sym typeface="Frankli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b="1" u="none" strike="noStrike" cap="none" dirty="0">
                          <a:solidFill>
                            <a:schemeClr val="dk1"/>
                          </a:solidFill>
                        </a:rPr>
                        <a:t>PUNTI DI FORZA</a:t>
                      </a:r>
                      <a:endParaRPr sz="1800" b="1" u="none" strike="noStrike" cap="none" dirty="0">
                        <a:solidFill>
                          <a:schemeClr val="dk1"/>
                        </a:solidFill>
                        <a:latin typeface="Franklin Gothic"/>
                        <a:ea typeface="Franklin Gothic"/>
                        <a:cs typeface="Franklin Gothic"/>
                        <a:sym typeface="Frankli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b="1" u="none" strike="noStrike" cap="none" dirty="0">
                          <a:solidFill>
                            <a:schemeClr val="dk1"/>
                          </a:solidFill>
                        </a:rPr>
                        <a:t>AREE DA RINFORZARE</a:t>
                      </a:r>
                      <a:endParaRPr sz="1800" b="1" u="none" strike="noStrike" cap="none" dirty="0">
                        <a:solidFill>
                          <a:schemeClr val="dk1"/>
                        </a:solidFill>
                        <a:latin typeface="Franklin Gothic"/>
                        <a:ea typeface="Franklin Gothic"/>
                        <a:cs typeface="Franklin Gothic"/>
                        <a:sym typeface="Frankli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176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600" b="1" u="none" strike="noStrike" cap="none" dirty="0"/>
                        <a:t>MARCO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457200" marR="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it-IT" sz="1600" dirty="0"/>
                        <a:t>  </a:t>
                      </a:r>
                      <a:endParaRPr sz="16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457200" marR="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endParaRPr sz="16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05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600" b="1" dirty="0"/>
                        <a:t>SARA 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457200" marR="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endParaRPr lang="it-IT" sz="16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457200" marR="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it-IT" sz="1600" dirty="0"/>
                        <a:t>e </a:t>
                      </a:r>
                      <a:endParaRPr sz="16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>
            <a:spLocks noGrp="1"/>
          </p:cNvSpPr>
          <p:nvPr>
            <p:ph type="title"/>
          </p:nvPr>
        </p:nvSpPr>
        <p:spPr>
          <a:xfrm>
            <a:off x="350520" y="194244"/>
            <a:ext cx="10972800" cy="924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 sz="4400" b="1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Cornice teorica di riferimento</a:t>
            </a:r>
            <a:endParaRPr dirty="0"/>
          </a:p>
        </p:txBody>
      </p:sp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2DD1D49E-CB6F-3AB1-2D1D-20513B504D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4392028"/>
              </p:ext>
            </p:extLst>
          </p:nvPr>
        </p:nvGraphicFramePr>
        <p:xfrm>
          <a:off x="1065914" y="859186"/>
          <a:ext cx="10060172" cy="599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 txBox="1">
            <a:spLocks noGrp="1"/>
          </p:cNvSpPr>
          <p:nvPr>
            <p:ph type="title"/>
          </p:nvPr>
        </p:nvSpPr>
        <p:spPr>
          <a:xfrm>
            <a:off x="8122945" y="-183275"/>
            <a:ext cx="4939666" cy="2542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 sz="4400" b="1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Preconoscenze attivate</a:t>
            </a:r>
            <a:endParaRPr lang="it-IT" dirty="0"/>
          </a:p>
        </p:txBody>
      </p:sp>
      <p:sp>
        <p:nvSpPr>
          <p:cNvPr id="221" name="Google Shape;221;p11"/>
          <p:cNvSpPr txBox="1">
            <a:spLocks noGrp="1"/>
          </p:cNvSpPr>
          <p:nvPr>
            <p:ph type="body" idx="1"/>
          </p:nvPr>
        </p:nvSpPr>
        <p:spPr>
          <a:xfrm>
            <a:off x="628624" y="716974"/>
            <a:ext cx="6823735" cy="563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91425" bIns="45700" anchor="t" anchorCtr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SzPct val="100000"/>
              <a:buNone/>
            </a:pPr>
            <a:r>
              <a:rPr lang="it-IT" b="1" dirty="0"/>
              <a:t>Italiano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it-IT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it-IT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it-IT" b="1" dirty="0"/>
              <a:t>Matematica </a:t>
            </a:r>
          </a:p>
          <a:p>
            <a:pPr marL="457200" lvl="0" indent="-3365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endParaRPr lang="it-IT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b="1" dirty="0"/>
              <a:t>Tecnologia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4A3F40E-98F4-5CD8-0753-D0083B1E1BB4}"/>
              </a:ext>
            </a:extLst>
          </p:cNvPr>
          <p:cNvSpPr txBox="1"/>
          <p:nvPr/>
        </p:nvSpPr>
        <p:spPr>
          <a:xfrm>
            <a:off x="4572000" y="3200401"/>
            <a:ext cx="8778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/>
              <a:t>Risultati attesi</a:t>
            </a:r>
          </a:p>
        </p:txBody>
      </p:sp>
    </p:spTree>
    <p:extLst>
      <p:ext uri="{BB962C8B-B14F-4D97-AF65-F5344CB8AC3E}">
        <p14:creationId xmlns:p14="http://schemas.microsoft.com/office/powerpoint/2010/main" val="60816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/>
          <p:nvPr/>
        </p:nvSpPr>
        <p:spPr>
          <a:xfrm>
            <a:off x="435935" y="1871330"/>
            <a:ext cx="2743200" cy="42530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641DEB3F-8748-FA36-F0E8-B23E5278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019549"/>
              </p:ext>
            </p:extLst>
          </p:nvPr>
        </p:nvGraphicFramePr>
        <p:xfrm>
          <a:off x="711200" y="294249"/>
          <a:ext cx="10896225" cy="370840"/>
        </p:xfrm>
        <a:graphic>
          <a:graphicData uri="http://schemas.openxmlformats.org/drawingml/2006/table">
            <a:tbl>
              <a:tblPr firstRow="1">
                <a:tableStyleId>{8EF0D3D6-3D62-4597-B8D4-FF6749928FE8}</a:tableStyleId>
              </a:tblPr>
              <a:tblGrid>
                <a:gridCol w="10896225">
                  <a:extLst>
                    <a:ext uri="{9D8B030D-6E8A-4147-A177-3AD203B41FA5}">
                      <a16:colId xmlns:a16="http://schemas.microsoft.com/office/drawing/2014/main" val="3744132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chemeClr val="tx1"/>
                          </a:solidFill>
                        </a:rPr>
                        <a:t>Discipline coinvolte: </a:t>
                      </a:r>
                      <a:r>
                        <a:rPr lang="it-IT" b="0" dirty="0">
                          <a:solidFill>
                            <a:schemeClr val="tx1"/>
                          </a:solidFill>
                        </a:rPr>
                        <a:t>Italiano, matematica ,tecnologia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076433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9ADCE5AC-141E-990F-4EED-AF47921D3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938429"/>
              </p:ext>
            </p:extLst>
          </p:nvPr>
        </p:nvGraphicFramePr>
        <p:xfrm>
          <a:off x="711201" y="728330"/>
          <a:ext cx="10896225" cy="2139624"/>
        </p:xfrm>
        <a:graphic>
          <a:graphicData uri="http://schemas.openxmlformats.org/drawingml/2006/table">
            <a:tbl>
              <a:tblPr/>
              <a:tblGrid>
                <a:gridCol w="10896225">
                  <a:extLst>
                    <a:ext uri="{9D8B030D-6E8A-4147-A177-3AD203B41FA5}">
                      <a16:colId xmlns:a16="http://schemas.microsoft.com/office/drawing/2014/main" val="571730109"/>
                    </a:ext>
                  </a:extLst>
                </a:gridCol>
              </a:tblGrid>
              <a:tr h="21396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b="1" dirty="0"/>
                        <a:t>Competenze chiave europee </a:t>
                      </a:r>
                      <a:r>
                        <a:rPr lang="it-IT" dirty="0"/>
                        <a:t>(</a:t>
                      </a:r>
                      <a:r>
                        <a:rPr lang="it-IT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Raccomandazione del Consiglio del 22 maggio 2018):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-competenza alfabetica-funzionale;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competenza personale, sociale e capacità di imparare ad imparare;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Competenza matematica e competenza in scienze e tecnologia;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competenza digitale</a:t>
                      </a:r>
                    </a:p>
                    <a:p>
                      <a:endParaRPr lang="it-IT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7178558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7529AD9F-1DCA-BF4D-A7CA-B74414DAA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933128"/>
              </p:ext>
            </p:extLst>
          </p:nvPr>
        </p:nvGraphicFramePr>
        <p:xfrm>
          <a:off x="711201" y="3077571"/>
          <a:ext cx="10896225" cy="3522293"/>
        </p:xfrm>
        <a:graphic>
          <a:graphicData uri="http://schemas.openxmlformats.org/drawingml/2006/table">
            <a:tbl>
              <a:tblPr firstRow="1" bandRow="1">
                <a:tableStyleId>{8EF0D3D6-3D62-4597-B8D4-FF6749928FE8}</a:tableStyleId>
              </a:tblPr>
              <a:tblGrid>
                <a:gridCol w="10896225">
                  <a:extLst>
                    <a:ext uri="{9D8B030D-6E8A-4147-A177-3AD203B41FA5}">
                      <a16:colId xmlns:a16="http://schemas.microsoft.com/office/drawing/2014/main" val="1351790338"/>
                    </a:ext>
                  </a:extLst>
                </a:gridCol>
              </a:tblGrid>
              <a:tr h="3522293">
                <a:tc>
                  <a:txBody>
                    <a:bodyPr/>
                    <a:lstStyle/>
                    <a:p>
                      <a:r>
                        <a:rPr lang="it-IT" sz="1800" b="1" i="0" kern="120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  <a:ea typeface="Franklin Gothic Book"/>
                          <a:cs typeface="Franklin Gothic Book"/>
                        </a:rPr>
                        <a:t>TRAGUARDI PER LO SVILUPPO DELLE COMPETENZE </a:t>
                      </a:r>
                      <a:r>
                        <a:rPr lang="it-IT" sz="1800" b="0" i="1" kern="120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  <a:ea typeface="Franklin Gothic Book"/>
                          <a:cs typeface="Franklin Gothic Book"/>
                        </a:rPr>
                        <a:t>(Indicazioni nazionali del 2012): </a:t>
                      </a:r>
                    </a:p>
                    <a:p>
                      <a:endParaRPr lang="it-IT" sz="1800" b="1" i="0" u="sng" kern="120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Franklin Gothic Book"/>
                        <a:cs typeface="Franklin Gothic Book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endParaRPr lang="it-IT" sz="1800" b="0" i="0" kern="120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Franklin Gothic Book"/>
                        <a:cs typeface="Franklin Gothic Book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1473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DCE542DA-7D46-B75B-6035-2815794D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>
            <a:extLst>
              <a:ext uri="{FF2B5EF4-FFF2-40B4-BE49-F238E27FC236}">
                <a16:creationId xmlns:a16="http://schemas.microsoft.com/office/drawing/2014/main" id="{D0DCD235-0B2A-4B84-8735-0905C3803128}"/>
              </a:ext>
            </a:extLst>
          </p:cNvPr>
          <p:cNvSpPr/>
          <p:nvPr/>
        </p:nvSpPr>
        <p:spPr>
          <a:xfrm>
            <a:off x="435935" y="1871330"/>
            <a:ext cx="2743200" cy="42530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3FB5946A-AA23-29E0-9E90-69CA3199C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049655"/>
              </p:ext>
            </p:extLst>
          </p:nvPr>
        </p:nvGraphicFramePr>
        <p:xfrm>
          <a:off x="1807535" y="536863"/>
          <a:ext cx="5613400" cy="5338157"/>
        </p:xfrm>
        <a:graphic>
          <a:graphicData uri="http://schemas.openxmlformats.org/drawingml/2006/table">
            <a:tbl>
              <a:tblPr firstRow="1" bandRow="1">
                <a:tableStyleId>{8EF0D3D6-3D62-4597-B8D4-FF6749928FE8}</a:tableStyleId>
              </a:tblPr>
              <a:tblGrid>
                <a:gridCol w="5613400">
                  <a:extLst>
                    <a:ext uri="{9D8B030D-6E8A-4147-A177-3AD203B41FA5}">
                      <a16:colId xmlns:a16="http://schemas.microsoft.com/office/drawing/2014/main" val="1351790338"/>
                    </a:ext>
                  </a:extLst>
                </a:gridCol>
              </a:tblGrid>
              <a:tr h="5338157">
                <a:tc>
                  <a:txBody>
                    <a:bodyPr/>
                    <a:lstStyle/>
                    <a:p>
                      <a:r>
                        <a:rPr lang="it-IT" sz="1800" b="1" i="0" kern="120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  <a:ea typeface="Franklin Gothic Book"/>
                          <a:cs typeface="Franklin Gothic Book"/>
                        </a:rPr>
                        <a:t>OBIETTIVI DI APPRENDIMENTO  </a:t>
                      </a:r>
                      <a:r>
                        <a:rPr lang="it-IT" sz="1800" b="0" i="1" kern="120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  <a:ea typeface="Franklin Gothic Book"/>
                          <a:cs typeface="Franklin Gothic Book"/>
                        </a:rPr>
                        <a:t>(Indicazioni nazionali del 2012):</a:t>
                      </a:r>
                    </a:p>
                    <a:p>
                      <a:endParaRPr lang="it-IT" sz="1800" b="0" i="1" kern="120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Franklin Gothic Book"/>
                        <a:cs typeface="Franklin Gothic Book"/>
                      </a:endParaRPr>
                    </a:p>
                    <a:p>
                      <a:endParaRPr lang="it-IT" sz="1800" b="0" i="0" u="sng" kern="120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Franklin Gothic Book"/>
                        <a:cs typeface="Franklin Gothic Book"/>
                      </a:endParaRPr>
                    </a:p>
                    <a:p>
                      <a:r>
                        <a:rPr lang="it-IT" sz="1800" b="0" i="0" u="sng" kern="120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  <a:ea typeface="Franklin Gothic Book"/>
                          <a:cs typeface="Franklin Gothic Book"/>
                        </a:rPr>
                        <a:t>Italiano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147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056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 txBox="1">
            <a:spLocks noGrp="1"/>
          </p:cNvSpPr>
          <p:nvPr>
            <p:ph type="title"/>
          </p:nvPr>
        </p:nvSpPr>
        <p:spPr>
          <a:xfrm>
            <a:off x="520160" y="223133"/>
            <a:ext cx="10972800" cy="15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 dirty="0"/>
              <a:t>Fase 1: DA DUPLICARE PER OGNI FASE</a:t>
            </a:r>
            <a:endParaRPr dirty="0"/>
          </a:p>
        </p:txBody>
      </p:sp>
      <p:sp>
        <p:nvSpPr>
          <p:cNvPr id="267" name="Google Shape;267;p18"/>
          <p:cNvSpPr txBox="1">
            <a:spLocks noGrp="1"/>
          </p:cNvSpPr>
          <p:nvPr>
            <p:ph type="body" idx="1"/>
          </p:nvPr>
        </p:nvSpPr>
        <p:spPr>
          <a:xfrm>
            <a:off x="594360" y="5176893"/>
            <a:ext cx="46908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it-IT" sz="1200" b="1" i="1" dirty="0">
                <a:latin typeface="Arial"/>
                <a:ea typeface="Arial"/>
                <a:cs typeface="Arial"/>
                <a:sym typeface="Arial"/>
              </a:rPr>
              <a:t>Format</a:t>
            </a:r>
            <a:r>
              <a:rPr lang="it-IT" sz="1200" i="1" dirty="0"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it-IT" sz="1200" b="1" i="1" dirty="0">
                <a:latin typeface="Arial"/>
                <a:ea typeface="Arial"/>
                <a:cs typeface="Arial"/>
                <a:sym typeface="Arial"/>
              </a:rPr>
              <a:t>Tecniche</a:t>
            </a:r>
            <a:r>
              <a:rPr lang="it-IT" sz="1200" i="1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8" name="Google Shape;268;p18"/>
          <p:cNvGraphicFramePr/>
          <p:nvPr>
            <p:extLst>
              <p:ext uri="{D42A27DB-BD31-4B8C-83A1-F6EECF244321}">
                <p14:modId xmlns:p14="http://schemas.microsoft.com/office/powerpoint/2010/main" val="2884093589"/>
              </p:ext>
            </p:extLst>
          </p:nvPr>
        </p:nvGraphicFramePr>
        <p:xfrm>
          <a:off x="594360" y="1797534"/>
          <a:ext cx="6758940" cy="3203054"/>
        </p:xfrm>
        <a:graphic>
          <a:graphicData uri="http://schemas.openxmlformats.org/drawingml/2006/table">
            <a:tbl>
              <a:tblPr>
                <a:noFill/>
                <a:tableStyleId>{01852D23-66E5-46D9-8489-5FCFC7B27883}</a:tableStyleId>
              </a:tblPr>
              <a:tblGrid>
                <a:gridCol w="252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4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7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Fase di innesco</a:t>
                      </a:r>
                      <a:endParaRPr sz="1200" b="1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200" marR="53200" marT="53200" marB="5320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200" marR="53200" marT="53200" marB="53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45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Sviluppo della conoscenza</a:t>
                      </a:r>
                      <a:endParaRPr sz="1200" b="1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200" marR="53200" marT="53200" marB="5320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200" marR="53200" marT="53200" marB="5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8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</a:t>
                      </a:r>
                      <a:endParaRPr sz="1200" b="1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200" marR="53200" marT="53200" marB="5320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it-IT" sz="1200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200" marR="53200" marT="53200" marB="53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9" name="Google Shape;269;p18"/>
          <p:cNvSpPr txBox="1"/>
          <p:nvPr/>
        </p:nvSpPr>
        <p:spPr>
          <a:xfrm>
            <a:off x="520160" y="5929293"/>
            <a:ext cx="527104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it-IT" sz="1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STRATEGIE INCLUSIVE: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it-IT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B40A1130-24B6-ED8A-E04E-931C8DDD60DC}"/>
              </a:ext>
            </a:extLst>
          </p:cNvPr>
          <p:cNvGrpSpPr/>
          <p:nvPr/>
        </p:nvGrpSpPr>
        <p:grpSpPr>
          <a:xfrm>
            <a:off x="699040" y="304213"/>
            <a:ext cx="2124170" cy="469953"/>
            <a:chOff x="699040" y="304213"/>
            <a:chExt cx="2124170" cy="469953"/>
          </a:xfrm>
        </p:grpSpPr>
        <p:pic>
          <p:nvPicPr>
            <p:cNvPr id="272" name="Google Shape;272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9040" y="304213"/>
              <a:ext cx="491022" cy="4699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CasellaDiTesto 1">
              <a:extLst>
                <a:ext uri="{FF2B5EF4-FFF2-40B4-BE49-F238E27FC236}">
                  <a16:creationId xmlns:a16="http://schemas.microsoft.com/office/drawing/2014/main" id="{79ACAFCA-8858-D845-6DF8-6AECB7EA9C2E}"/>
                </a:ext>
              </a:extLst>
            </p:cNvPr>
            <p:cNvSpPr txBox="1"/>
            <p:nvPr/>
          </p:nvSpPr>
          <p:spPr>
            <a:xfrm>
              <a:off x="1190062" y="385302"/>
              <a:ext cx="16331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1 ora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"/>
          <p:cNvSpPr txBox="1">
            <a:spLocks noGrp="1"/>
          </p:cNvSpPr>
          <p:nvPr>
            <p:ph type="title"/>
          </p:nvPr>
        </p:nvSpPr>
        <p:spPr>
          <a:xfrm>
            <a:off x="658157" y="563525"/>
            <a:ext cx="7542868" cy="658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 dirty="0"/>
              <a:t>Tre aspetti della valutazione</a:t>
            </a:r>
            <a:endParaRPr dirty="0"/>
          </a:p>
        </p:txBody>
      </p:sp>
      <p:sp>
        <p:nvSpPr>
          <p:cNvPr id="335" name="Google Shape;335;p24"/>
          <p:cNvSpPr/>
          <p:nvPr/>
        </p:nvSpPr>
        <p:spPr>
          <a:xfrm>
            <a:off x="510363" y="1860698"/>
            <a:ext cx="2360428" cy="8825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336" name="Google Shape;336;p24"/>
          <p:cNvGrpSpPr/>
          <p:nvPr/>
        </p:nvGrpSpPr>
        <p:grpSpPr>
          <a:xfrm>
            <a:off x="2779884" y="1600538"/>
            <a:ext cx="7419383" cy="5157267"/>
            <a:chOff x="1" y="4151"/>
            <a:chExt cx="7419383" cy="4790328"/>
          </a:xfrm>
        </p:grpSpPr>
        <p:sp>
          <p:nvSpPr>
            <p:cNvPr id="337" name="Google Shape;337;p24"/>
            <p:cNvSpPr/>
            <p:nvPr/>
          </p:nvSpPr>
          <p:spPr>
            <a:xfrm rot="5400000">
              <a:off x="-258774" y="262926"/>
              <a:ext cx="1725165" cy="1207615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50000"/>
                <a:lumOff val="50000"/>
              </a:schemeClr>
            </a:solidFill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" name="Google Shape;338;p24"/>
            <p:cNvSpPr txBox="1"/>
            <p:nvPr/>
          </p:nvSpPr>
          <p:spPr>
            <a:xfrm>
              <a:off x="2" y="607959"/>
              <a:ext cx="1207615" cy="5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50" tIns="22850" rIns="22850" bIns="228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Libre Franklin"/>
                <a:buNone/>
              </a:pPr>
              <a:r>
                <a:rPr lang="it-IT" sz="36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1</a:t>
              </a:r>
              <a:endParaRPr dirty="0"/>
            </a:p>
          </p:txBody>
        </p:sp>
        <p:sp>
          <p:nvSpPr>
            <p:cNvPr id="339" name="Google Shape;339;p24"/>
            <p:cNvSpPr/>
            <p:nvPr/>
          </p:nvSpPr>
          <p:spPr>
            <a:xfrm rot="5400000">
              <a:off x="3700138" y="-2488371"/>
              <a:ext cx="1121357" cy="6106403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803"/>
              </a:schemeClr>
            </a:solidFill>
            <a:ln w="63500" cap="rnd" cmpd="sng">
              <a:solidFill>
                <a:schemeClr val="tx2">
                  <a:lumMod val="50000"/>
                  <a:lumOff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4"/>
            <p:cNvSpPr txBox="1"/>
            <p:nvPr/>
          </p:nvSpPr>
          <p:spPr>
            <a:xfrm>
              <a:off x="1207626" y="216056"/>
              <a:ext cx="6051600" cy="854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11425" rIns="11425" bIns="11425" anchor="ctr" anchorCtr="0">
              <a:noAutofit/>
            </a:bodyPr>
            <a:lstStyle/>
            <a:p>
              <a:pPr marL="171450" marR="0" lvl="1" indent="-17145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800"/>
                <a:buFont typeface="Libre Franklin"/>
                <a:buNone/>
              </a:pPr>
              <a:r>
                <a:rPr lang="it-IT" b="1" i="1" u="none" strike="noStrike" cap="none" dirty="0">
                  <a:latin typeface="Libre Franklin"/>
                  <a:ea typeface="Libre Franklin"/>
                  <a:cs typeface="Libre Franklin"/>
                  <a:sym typeface="Libre Franklin"/>
                </a:rPr>
                <a:t>Valutazione diagnostica-orientativa </a:t>
              </a:r>
              <a:endParaRPr b="1" dirty="0"/>
            </a:p>
            <a:p>
              <a:pPr marL="171450" marR="0" lvl="1" indent="-171450" algn="ctr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accent3"/>
                </a:buClr>
                <a:buSzPts val="1800"/>
                <a:buFont typeface="Libre Franklin"/>
                <a:buNone/>
              </a:pPr>
              <a:r>
                <a:rPr lang="it-IT" b="1" i="0" u="none" strike="noStrike" cap="none" dirty="0">
                  <a:latin typeface="Libre Franklin"/>
                  <a:ea typeface="Libre Franklin"/>
                  <a:cs typeface="Libre Franklin"/>
                  <a:sym typeface="Libre Franklin"/>
                </a:rPr>
                <a:t>INIZIALE</a:t>
              </a:r>
              <a:endParaRPr b="1" i="0" u="none" strike="noStrike" cap="none" dirty="0"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171450" marR="0" lvl="1" indent="-171450" algn="ctr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accent3"/>
                </a:buClr>
                <a:buSzPts val="1800"/>
                <a:buFont typeface="Libre Franklin"/>
                <a:buNone/>
              </a:pPr>
              <a:endParaRPr b="1" dirty="0">
                <a:solidFill>
                  <a:schemeClr val="accent3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171450" marR="0" lvl="1" indent="-171450" algn="ctr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accent3"/>
                </a:buClr>
                <a:buSzPts val="1800"/>
                <a:buFont typeface="Libre Franklin"/>
                <a:buNone/>
              </a:pPr>
              <a:r>
                <a:rPr lang="it-IT" dirty="0">
                  <a:solidFill>
                    <a:schemeClr val="dk1"/>
                  </a:solidFill>
                  <a:latin typeface="Libre Franklin"/>
                  <a:sym typeface="Libre Franklin"/>
                </a:rPr>
                <a:t>(attività di classificazione iniziale)</a:t>
              </a:r>
              <a:endParaRPr dirty="0">
                <a:solidFill>
                  <a:schemeClr val="lt1"/>
                </a:solidFill>
              </a:endParaRPr>
            </a:p>
          </p:txBody>
        </p:sp>
        <p:sp>
          <p:nvSpPr>
            <p:cNvPr id="341" name="Google Shape;341;p24"/>
            <p:cNvSpPr/>
            <p:nvPr/>
          </p:nvSpPr>
          <p:spPr>
            <a:xfrm rot="5400000">
              <a:off x="-258774" y="1795508"/>
              <a:ext cx="1725165" cy="1207615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  <a:lumOff val="25000"/>
              </a:schemeClr>
            </a:solidFill>
            <a:ln w="12700" cap="flat" cmpd="sng">
              <a:solidFill>
                <a:srgbClr val="684B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" name="Google Shape;342;p24"/>
            <p:cNvSpPr txBox="1"/>
            <p:nvPr/>
          </p:nvSpPr>
          <p:spPr>
            <a:xfrm>
              <a:off x="2" y="2140541"/>
              <a:ext cx="1207615" cy="5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50" tIns="22850" rIns="22850" bIns="228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Libre Franklin"/>
                <a:buNone/>
              </a:pPr>
              <a:r>
                <a:rPr lang="it-IT" sz="36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2</a:t>
              </a:r>
              <a:endParaRPr/>
            </a:p>
          </p:txBody>
        </p:sp>
        <p:sp>
          <p:nvSpPr>
            <p:cNvPr id="343" name="Google Shape;343;p24"/>
            <p:cNvSpPr/>
            <p:nvPr/>
          </p:nvSpPr>
          <p:spPr>
            <a:xfrm rot="5400000">
              <a:off x="3625977" y="-881629"/>
              <a:ext cx="1375044" cy="62117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803"/>
              </a:schemeClr>
            </a:solidFill>
            <a:ln w="63500" cap="flat" cmpd="sng">
              <a:solidFill>
                <a:schemeClr val="tx2">
                  <a:lumMod val="75000"/>
                  <a:lumOff val="2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" name="Google Shape;344;p24"/>
            <p:cNvSpPr txBox="1"/>
            <p:nvPr/>
          </p:nvSpPr>
          <p:spPr>
            <a:xfrm>
              <a:off x="1207614" y="1914212"/>
              <a:ext cx="5854583" cy="7794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11425" rIns="11425" bIns="11425" anchor="ctr" anchorCtr="0">
              <a:noAutofit/>
            </a:bodyPr>
            <a:lstStyle/>
            <a:p>
              <a:pPr marL="171450" marR="0" lvl="1" indent="-17145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030A0"/>
                </a:buClr>
                <a:buSzPts val="1800"/>
                <a:buFont typeface="Libre Franklin"/>
                <a:buNone/>
              </a:pPr>
              <a:r>
                <a:rPr lang="it-IT" b="1" i="1" u="none" strike="noStrike" cap="none" dirty="0">
                  <a:latin typeface="Libre Franklin"/>
                  <a:ea typeface="Libre Franklin"/>
                  <a:cs typeface="Libre Franklin"/>
                  <a:sym typeface="Libre Franklin"/>
                </a:rPr>
                <a:t>Valutazione formativo-regolativa </a:t>
              </a:r>
              <a:endParaRPr b="1" i="0" u="none" strike="noStrike" cap="none" dirty="0"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171450" marR="0" lvl="1" indent="-171450" algn="ctr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7030A0"/>
                </a:buClr>
                <a:buSzPts val="1800"/>
                <a:buFont typeface="Libre Franklin"/>
                <a:buNone/>
              </a:pPr>
              <a:r>
                <a:rPr lang="it-IT" b="1" i="0" u="none" strike="noStrike" cap="none" dirty="0">
                  <a:latin typeface="Libre Franklin"/>
                  <a:ea typeface="Libre Franklin"/>
                  <a:cs typeface="Libre Franklin"/>
                  <a:sym typeface="Libre Franklin"/>
                </a:rPr>
                <a:t>IN ITINERE </a:t>
              </a:r>
              <a:endParaRPr b="1" i="0" u="none" strike="noStrike" cap="none" dirty="0"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171450" marR="0" lvl="1" indent="-171450" algn="ctr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ibre Franklin"/>
                <a:buNone/>
              </a:pPr>
              <a:r>
                <a:rPr lang="it-IT" b="0" i="0" u="none" strike="noStrike" cap="none" dirty="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(formulazione di ipotesi, descrizione, confronto, attribuzione di significati, linguaggio specifico</a:t>
              </a:r>
              <a:r>
                <a:rPr lang="it-IT" dirty="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)</a:t>
              </a: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345" name="Google Shape;345;p24"/>
            <p:cNvSpPr/>
            <p:nvPr/>
          </p:nvSpPr>
          <p:spPr>
            <a:xfrm rot="5400000">
              <a:off x="-258774" y="3328089"/>
              <a:ext cx="1725165" cy="1207615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90000"/>
                <a:lumOff val="10000"/>
              </a:schemeClr>
            </a:solidFill>
            <a:ln w="12700" cap="flat" cmpd="sng">
              <a:solidFill>
                <a:srgbClr val="AA55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" name="Google Shape;346;p24"/>
            <p:cNvSpPr txBox="1"/>
            <p:nvPr/>
          </p:nvSpPr>
          <p:spPr>
            <a:xfrm>
              <a:off x="2" y="3673122"/>
              <a:ext cx="1207615" cy="5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50" tIns="22850" rIns="22850" bIns="228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Libre Franklin"/>
                <a:buNone/>
              </a:pPr>
              <a:r>
                <a:rPr lang="it-IT" sz="3600" dirty="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3</a:t>
              </a:r>
              <a:endParaRPr dirty="0"/>
            </a:p>
          </p:txBody>
        </p:sp>
        <p:sp>
          <p:nvSpPr>
            <p:cNvPr id="347" name="Google Shape;347;p24"/>
            <p:cNvSpPr/>
            <p:nvPr/>
          </p:nvSpPr>
          <p:spPr>
            <a:xfrm rot="5400000">
              <a:off x="3700138" y="576792"/>
              <a:ext cx="1121357" cy="6106403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803"/>
              </a:schemeClr>
            </a:solidFill>
            <a:ln w="635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4"/>
            <p:cNvSpPr txBox="1"/>
            <p:nvPr/>
          </p:nvSpPr>
          <p:spPr>
            <a:xfrm>
              <a:off x="1207615" y="3124055"/>
              <a:ext cx="6051663" cy="10118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11425" rIns="11425" bIns="11425" anchor="ctr" anchorCtr="0">
              <a:noAutofit/>
            </a:bodyPr>
            <a:lstStyle/>
            <a:p>
              <a:pPr marL="171450" marR="0" lvl="1" indent="-17145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800"/>
                <a:buFont typeface="Libre Franklin"/>
                <a:buNone/>
              </a:pPr>
              <a:r>
                <a:rPr lang="it-IT" b="1" i="1" u="none" strike="noStrike" cap="none" dirty="0">
                  <a:latin typeface="Libre Franklin"/>
                  <a:ea typeface="Libre Franklin"/>
                  <a:cs typeface="Libre Franklin"/>
                  <a:sym typeface="Libre Franklin"/>
                </a:rPr>
                <a:t>Valutazione sommativo-certificativa </a:t>
              </a:r>
              <a:endParaRPr b="1" i="0" u="none" strike="noStrike" cap="none" dirty="0"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171450" marR="0" lvl="1" indent="-171450" algn="ctr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accent4"/>
                </a:buClr>
                <a:buSzPts val="1800"/>
                <a:buFont typeface="Libre Franklin"/>
                <a:buNone/>
              </a:pPr>
              <a:r>
                <a:rPr lang="it-IT" b="1" i="0" u="none" strike="noStrike" cap="none" dirty="0">
                  <a:latin typeface="Libre Franklin"/>
                  <a:ea typeface="Libre Franklin"/>
                  <a:cs typeface="Libre Franklin"/>
                  <a:sym typeface="Libre Franklin"/>
                </a:rPr>
                <a:t>FINALE </a:t>
              </a:r>
              <a:endParaRPr b="1" dirty="0"/>
            </a:p>
            <a:p>
              <a:pPr marL="171450" marR="0" lvl="1" indent="-571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ibre Franklin"/>
                <a:buNone/>
              </a:pPr>
              <a:endParaRPr b="0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171450" marR="0" lvl="1" indent="-171450" algn="ctr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ibre Franklin"/>
                <a:buNone/>
              </a:pPr>
              <a:r>
                <a:rPr lang="it-IT" b="0" i="0" u="none" strike="noStrike" cap="none" dirty="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(Compito di realtà</a:t>
              </a:r>
              <a:r>
                <a:rPr lang="it-IT" dirty="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)</a:t>
              </a:r>
              <a:endParaRPr dirty="0">
                <a:solidFill>
                  <a:schemeClr val="dk1"/>
                </a:solidFill>
              </a:endParaRPr>
            </a:p>
          </p:txBody>
        </p:sp>
      </p:grpSp>
      <p:sp>
        <p:nvSpPr>
          <p:cNvPr id="349" name="Google Shape;349;p24"/>
          <p:cNvSpPr txBox="1"/>
          <p:nvPr/>
        </p:nvSpPr>
        <p:spPr>
          <a:xfrm>
            <a:off x="106326" y="6395205"/>
            <a:ext cx="16905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Galliani, 2015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9"/>
          <p:cNvSpPr txBox="1">
            <a:spLocks noGrp="1"/>
          </p:cNvSpPr>
          <p:nvPr>
            <p:ph type="title"/>
          </p:nvPr>
        </p:nvSpPr>
        <p:spPr>
          <a:xfrm>
            <a:off x="510363" y="275066"/>
            <a:ext cx="8506046" cy="54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lang="it-IT" sz="3600" dirty="0"/>
              <a:t>Rubrica valutativa: compito di realtà</a:t>
            </a:r>
            <a:endParaRPr dirty="0"/>
          </a:p>
        </p:txBody>
      </p:sp>
      <p:sp>
        <p:nvSpPr>
          <p:cNvPr id="378" name="Google Shape;378;p29"/>
          <p:cNvSpPr/>
          <p:nvPr/>
        </p:nvSpPr>
        <p:spPr>
          <a:xfrm>
            <a:off x="510363" y="1860698"/>
            <a:ext cx="2360428" cy="8825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aphicFrame>
        <p:nvGraphicFramePr>
          <p:cNvPr id="379" name="Google Shape;379;p29"/>
          <p:cNvGraphicFramePr/>
          <p:nvPr>
            <p:extLst>
              <p:ext uri="{D42A27DB-BD31-4B8C-83A1-F6EECF244321}">
                <p14:modId xmlns:p14="http://schemas.microsoft.com/office/powerpoint/2010/main" val="1970265488"/>
              </p:ext>
            </p:extLst>
          </p:nvPr>
        </p:nvGraphicFramePr>
        <p:xfrm>
          <a:off x="510364" y="1073889"/>
          <a:ext cx="11171250" cy="5167415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64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7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39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1" u="none" strike="noStrike" dirty="0">
                          <a:solidFill>
                            <a:srgbClr val="000000"/>
                          </a:solidFill>
                          <a:sym typeface="Arial"/>
                        </a:rPr>
                        <a:t>DIMENSIONI</a:t>
                      </a:r>
                      <a:endParaRPr sz="2400" b="1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1" u="none" strike="noStrike">
                          <a:solidFill>
                            <a:srgbClr val="000000"/>
                          </a:solidFill>
                          <a:sym typeface="Arial"/>
                        </a:rPr>
                        <a:t>CRITERI</a:t>
                      </a:r>
                      <a:endParaRPr sz="24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1" u="none" strike="noStrike">
                          <a:solidFill>
                            <a:srgbClr val="000000"/>
                          </a:solidFill>
                          <a:sym typeface="Arial"/>
                        </a:rPr>
                        <a:t>INDICATORI</a:t>
                      </a:r>
                      <a:endParaRPr sz="24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1" u="none" strike="noStrike" dirty="0">
                          <a:solidFill>
                            <a:srgbClr val="000000"/>
                          </a:solidFill>
                          <a:sym typeface="Arial"/>
                        </a:rPr>
                        <a:t>LIVELLI</a:t>
                      </a:r>
                      <a:endParaRPr sz="2400" b="1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55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1" u="none" strike="noStrike">
                          <a:solidFill>
                            <a:srgbClr val="000000"/>
                          </a:solidFill>
                          <a:sym typeface="Arial"/>
                        </a:rPr>
                        <a:t>Avanzato</a:t>
                      </a:r>
                      <a:endParaRPr sz="24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1" u="none" strike="noStrike">
                          <a:solidFill>
                            <a:srgbClr val="000000"/>
                          </a:solidFill>
                          <a:sym typeface="Arial"/>
                        </a:rPr>
                        <a:t>Intermedio</a:t>
                      </a:r>
                      <a:endParaRPr sz="24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1" u="none" strike="noStrike">
                          <a:solidFill>
                            <a:srgbClr val="000000"/>
                          </a:solidFill>
                          <a:sym typeface="Arial"/>
                        </a:rPr>
                        <a:t>Base</a:t>
                      </a:r>
                      <a:endParaRPr sz="24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1" u="none" strike="noStrike">
                          <a:solidFill>
                            <a:srgbClr val="000000"/>
                          </a:solidFill>
                          <a:sym typeface="Arial"/>
                        </a:rPr>
                        <a:t>Iniziale</a:t>
                      </a:r>
                      <a:endParaRPr sz="24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 dirty="0">
                          <a:solidFill>
                            <a:srgbClr val="000000"/>
                          </a:solidFill>
                          <a:sym typeface="Arial"/>
                        </a:rPr>
                        <a:t>Collaborazione</a:t>
                      </a:r>
                      <a:endParaRPr sz="24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 dirty="0">
                          <a:solidFill>
                            <a:srgbClr val="000000"/>
                          </a:solidFill>
                          <a:sym typeface="Arial"/>
                        </a:rPr>
                        <a:t>Collaborare con i compagni per realizzare l’attività.</a:t>
                      </a:r>
                      <a:endParaRPr sz="24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Interagisce con i compagni ai fini dell’attività, rispetta le idee e i ruoli degli altri. 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Interagisce sempre positivamente con i compagni, accoglie le loro idee e rispetta i ruoli assegnati in modo autonomo.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Interagisce quasi sempre positivamente con i compagni, accoglie le loro idee e rispetta i ruoli assegnati generalmente in modo autonomo.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A volte interagisce positivamente con i compagni, </a:t>
                      </a:r>
                      <a:endParaRPr sz="2400"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accoglie le loro idee e rispetta i ruoli assegnati anche se alcune volte necessita della mediazione dell’adulto. 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Interagisce con i compagni solo se sollecitato dall’insegnante, accoglie e le loro idee e rispetta i ruoli assegnati con la mediazione dell’adulto. 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 dirty="0">
                          <a:solidFill>
                            <a:srgbClr val="000000"/>
                          </a:solidFill>
                          <a:sym typeface="Arial"/>
                        </a:rPr>
                        <a:t>Partecipazione</a:t>
                      </a:r>
                      <a:endParaRPr sz="24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Partecipare all’attività 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Pone domande e interviene durante l’attività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Pone domande pertinenti e interviene spontaneamente durante le attività. 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Pone domande quasi sempre pertinenti e interviene durante le attività. 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Pone domande talvolta pertinenti e interviene anche se alcune volte necessita di essere sollecitato dall’adulto.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Pone domande e interviene durante l’attività solo se sollecitato dall’adulto. 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925" marR="43925" marT="62725" marB="62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Autonomia</a:t>
                      </a:r>
                      <a:endParaRPr sz="1050"/>
                    </a:p>
                  </a:txBody>
                  <a:tcPr marL="31750" marR="31750" marT="44450" marB="444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Lavorare in maniera autonoma.</a:t>
                      </a:r>
                      <a:endParaRPr sz="1050"/>
                    </a:p>
                  </a:txBody>
                  <a:tcPr marL="31750" marR="31750" marT="44450" marB="444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Organizza il proprio lavoro.</a:t>
                      </a:r>
                      <a:endParaRPr sz="1050"/>
                    </a:p>
                  </a:txBody>
                  <a:tcPr marL="31750" marR="31750" marT="44450" marB="444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Organizza con efficacia e sicurezza le fasi del proprio lavoro rispettando sempre i tempi previsti per le attività. </a:t>
                      </a:r>
                      <a:endParaRPr sz="1050"/>
                    </a:p>
                  </a:txBody>
                  <a:tcPr marL="31750" marR="31750" marT="44450" marB="444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Organizza le fasi del proprio lavoro in maniera autonoma rispettando i tempi  previsti per le attività. </a:t>
                      </a:r>
                      <a:endParaRPr sz="105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it-IT" sz="1050"/>
                      </a:br>
                      <a:endParaRPr sz="1050"/>
                    </a:p>
                  </a:txBody>
                  <a:tcPr marL="31750" marR="31750" marT="44450" marB="444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Organizza le fasi del proprio lavoro in maniera abbastanza autonoma e talvolta rispetta i tempi previsti per le attività. </a:t>
                      </a:r>
                      <a:endParaRPr sz="1050"/>
                    </a:p>
                  </a:txBody>
                  <a:tcPr marL="31750" marR="31750" marT="44450" marB="444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u="none" strike="noStrike" dirty="0">
                          <a:solidFill>
                            <a:srgbClr val="000000"/>
                          </a:solidFill>
                          <a:sym typeface="Arial"/>
                        </a:rPr>
                        <a:t>Organizza le fasi del proprio lavoro e rispetta i tempi previsti per le attività solo se supportato dall’insegnante. </a:t>
                      </a:r>
                      <a:endParaRPr sz="1050" dirty="0"/>
                    </a:p>
                  </a:txBody>
                  <a:tcPr marL="31750" marR="31750" marT="44450" marB="444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"/>
          <p:cNvSpPr txBox="1">
            <a:spLocks noGrp="1"/>
          </p:cNvSpPr>
          <p:nvPr>
            <p:ph type="title"/>
          </p:nvPr>
        </p:nvSpPr>
        <p:spPr>
          <a:xfrm>
            <a:off x="594360" y="102875"/>
            <a:ext cx="11262360" cy="168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 sz="4400" b="1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Griglia </a:t>
            </a:r>
            <a:r>
              <a:rPr lang="it-IT" dirty="0"/>
              <a:t>di osservazione</a:t>
            </a:r>
            <a:r>
              <a:rPr lang="it-IT" sz="4400" b="1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del comportamento degli alunni</a:t>
            </a:r>
            <a:endParaRPr dirty="0"/>
          </a:p>
        </p:txBody>
      </p:sp>
      <p:graphicFrame>
        <p:nvGraphicFramePr>
          <p:cNvPr id="397" name="Google Shape;397;p30"/>
          <p:cNvGraphicFramePr/>
          <p:nvPr>
            <p:extLst>
              <p:ext uri="{D42A27DB-BD31-4B8C-83A1-F6EECF244321}">
                <p14:modId xmlns:p14="http://schemas.microsoft.com/office/powerpoint/2010/main" val="2313301498"/>
              </p:ext>
            </p:extLst>
          </p:nvPr>
        </p:nvGraphicFramePr>
        <p:xfrm>
          <a:off x="1250950" y="1881188"/>
          <a:ext cx="9690100" cy="4392612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923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01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355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>
                          <a:solidFill>
                            <a:srgbClr val="000000"/>
                          </a:solidFill>
                          <a:sym typeface="Arial"/>
                        </a:rPr>
                        <a:t>DESCRITTORE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1" u="none" strike="noStrike">
                          <a:solidFill>
                            <a:srgbClr val="000000"/>
                          </a:solidFill>
                          <a:sym typeface="Arial"/>
                        </a:rPr>
                        <a:t>Molto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1" u="none" strike="noStrike">
                          <a:solidFill>
                            <a:srgbClr val="000000"/>
                          </a:solidFill>
                          <a:sym typeface="Arial"/>
                        </a:rPr>
                        <a:t>Abbastanza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1" u="none" strike="noStrike">
                          <a:solidFill>
                            <a:srgbClr val="000000"/>
                          </a:solidFill>
                          <a:sym typeface="Arial"/>
                        </a:rPr>
                        <a:t>Poco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1" u="none" strike="noStrike">
                          <a:solidFill>
                            <a:srgbClr val="000000"/>
                          </a:solidFill>
                          <a:sym typeface="Arial"/>
                        </a:rPr>
                        <a:t>Per niente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1" u="none" strike="noStrike">
                          <a:solidFill>
                            <a:srgbClr val="000000"/>
                          </a:solidFill>
                          <a:sym typeface="Arial"/>
                        </a:rPr>
                        <a:t>NOTE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31750" marB="317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0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Partecipa attivamente alle attività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26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Si impegna al fine della realizzazione di un prodotto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26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0" u="none" strike="noStrike" dirty="0">
                          <a:solidFill>
                            <a:srgbClr val="000000"/>
                          </a:solidFill>
                          <a:sym typeface="Arial"/>
                        </a:rPr>
                        <a:t>È autonomo nello svolgimento delle attività</a:t>
                      </a:r>
                      <a:endParaRPr sz="1800" b="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14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Sa spiegare il proprio lavoro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14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0" u="none" strike="noStrike" dirty="0">
                          <a:solidFill>
                            <a:srgbClr val="000000"/>
                          </a:solidFill>
                          <a:sym typeface="Arial"/>
                        </a:rPr>
                        <a:t>Collabora e aiuta i compagni in difficoltà</a:t>
                      </a:r>
                      <a:endParaRPr sz="1800" b="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03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0" u="none" strike="noStrike" dirty="0">
                          <a:solidFill>
                            <a:srgbClr val="000000"/>
                          </a:solidFill>
                          <a:sym typeface="Arial"/>
                        </a:rPr>
                        <a:t>Accoglie i consigli e le osservazioni degli insegnanti e dei compagni</a:t>
                      </a:r>
                      <a:endParaRPr sz="1800" b="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8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sym typeface="Arial"/>
                        </a:rPr>
                        <a:t>Chiede aiuto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0" u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/>
                    </a:p>
                  </a:txBody>
                  <a:tcPr marL="25400" marR="25400" marT="31750" marB="31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0" u="none" strike="noStrike" dirty="0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 dirty="0"/>
                    </a:p>
                  </a:txBody>
                  <a:tcPr marL="25400" marR="25400" marT="31750" marB="317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98" name="Google Shape;398;p30"/>
          <p:cNvSpPr/>
          <p:nvPr/>
        </p:nvSpPr>
        <p:spPr>
          <a:xfrm>
            <a:off x="2276475" y="1881188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3"/>
          <p:cNvSpPr/>
          <p:nvPr/>
        </p:nvSpPr>
        <p:spPr>
          <a:xfrm>
            <a:off x="484177" y="1722474"/>
            <a:ext cx="2556735" cy="11598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05" name="Google Shape;405;p33"/>
          <p:cNvSpPr txBox="1">
            <a:spLocks noGrp="1"/>
          </p:cNvSpPr>
          <p:nvPr>
            <p:ph type="title"/>
          </p:nvPr>
        </p:nvSpPr>
        <p:spPr>
          <a:xfrm>
            <a:off x="484177" y="282171"/>
            <a:ext cx="10873740" cy="666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Scheda di autovalutazione dell’alunno</a:t>
            </a:r>
            <a:endParaRPr/>
          </a:p>
        </p:txBody>
      </p:sp>
      <p:graphicFrame>
        <p:nvGraphicFramePr>
          <p:cNvPr id="410" name="Google Shape;410;p33"/>
          <p:cNvGraphicFramePr/>
          <p:nvPr>
            <p:extLst>
              <p:ext uri="{D42A27DB-BD31-4B8C-83A1-F6EECF244321}">
                <p14:modId xmlns:p14="http://schemas.microsoft.com/office/powerpoint/2010/main" val="1521610418"/>
              </p:ext>
            </p:extLst>
          </p:nvPr>
        </p:nvGraphicFramePr>
        <p:xfrm>
          <a:off x="1574557" y="1192672"/>
          <a:ext cx="8692980" cy="4941899"/>
        </p:xfrm>
        <a:graphic>
          <a:graphicData uri="http://schemas.openxmlformats.org/drawingml/2006/table">
            <a:tbl>
              <a:tblPr>
                <a:noFill/>
                <a:tableStyleId>{1993EA0C-0BF3-4CB6-B5C7-6E13C0C34D9C}</a:tableStyleId>
              </a:tblPr>
              <a:tblGrid>
                <a:gridCol w="5267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5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921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AUTOVALUTAZIONE LAVORO DI GRUPPO</a:t>
                      </a:r>
                      <a:endParaRPr sz="1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9950" marR="59950" marT="39975" marB="39975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3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 comunicato le mie idee con facilità.</a:t>
                      </a:r>
                      <a:endParaRPr sz="1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9950" marR="59950" marT="39975" marB="399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SÌ                       IN PARTE                       NO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9950" marR="59950" marT="39975" marB="399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3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 saputo coinvolgere i «visitatori» della mostra</a:t>
                      </a:r>
                      <a:endParaRPr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9950" marR="59950" marT="39975" marB="399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SÌ                       IN PARTE                       NO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9950" marR="59950" marT="39975" marB="399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3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 contribuito al lavoro completando dei compiti.</a:t>
                      </a:r>
                      <a:endParaRPr sz="1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9950" marR="59950" marT="39975" marB="399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SÌ                       IN PARTE                       NO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9950" marR="59950" marT="39975" marB="399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3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 sostenuto tutti i miei compagni.</a:t>
                      </a:r>
                      <a:endParaRPr sz="1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9950" marR="59950" marT="39975" marB="399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SÌ                       IN PARTE                       NO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9950" marR="59950" marT="39975" marB="399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3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 saputo collaborare con tutti i compagni.</a:t>
                      </a:r>
                      <a:endParaRPr sz="1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9950" marR="59950" marT="39975" marB="399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SÌ                       IN PARTE                       NO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9950" marR="59950" marT="39975" marB="399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59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Come ti sei sentito/a durante il compito di realtà? Racconta come è andata.</a:t>
                      </a:r>
                      <a:endParaRPr sz="1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</a:t>
                      </a:r>
                      <a:endParaRPr sz="1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9950" marR="59950" marT="39975" marB="39975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5"/>
          <p:cNvSpPr txBox="1">
            <a:spLocks noGrp="1"/>
          </p:cNvSpPr>
          <p:nvPr>
            <p:ph type="title"/>
          </p:nvPr>
        </p:nvSpPr>
        <p:spPr>
          <a:xfrm>
            <a:off x="594360" y="278128"/>
            <a:ext cx="9804282" cy="785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anklin Gothic"/>
              <a:buNone/>
            </a:pPr>
            <a:r>
              <a:rPr lang="it-IT" sz="3200"/>
              <a:t>Griglia di autovalutazione del docente</a:t>
            </a:r>
            <a:endParaRPr/>
          </a:p>
        </p:txBody>
      </p:sp>
      <p:sp>
        <p:nvSpPr>
          <p:cNvPr id="422" name="Google Shape;422;p35"/>
          <p:cNvSpPr/>
          <p:nvPr/>
        </p:nvSpPr>
        <p:spPr>
          <a:xfrm>
            <a:off x="594360" y="1913860"/>
            <a:ext cx="2318961" cy="4465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aphicFrame>
        <p:nvGraphicFramePr>
          <p:cNvPr id="423" name="Google Shape;423;p35"/>
          <p:cNvGraphicFramePr/>
          <p:nvPr>
            <p:extLst>
              <p:ext uri="{D42A27DB-BD31-4B8C-83A1-F6EECF244321}">
                <p14:modId xmlns:p14="http://schemas.microsoft.com/office/powerpoint/2010/main" val="1964245318"/>
              </p:ext>
            </p:extLst>
          </p:nvPr>
        </p:nvGraphicFramePr>
        <p:xfrm>
          <a:off x="823431" y="1509723"/>
          <a:ext cx="10217675" cy="459655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14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0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dirty="0">
                          <a:sym typeface="Arial"/>
                        </a:rPr>
                        <a:t>INDICATORE</a:t>
                      </a:r>
                      <a:endParaRPr dirty="0"/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dirty="0">
                          <a:sym typeface="Arial"/>
                        </a:rPr>
                        <a:t>POCO</a:t>
                      </a:r>
                      <a:endParaRPr dirty="0"/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dirty="0">
                          <a:sym typeface="Arial"/>
                        </a:rPr>
                        <a:t>ABBASTANZA</a:t>
                      </a:r>
                      <a:endParaRPr dirty="0"/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dirty="0">
                          <a:sym typeface="Arial"/>
                        </a:rPr>
                        <a:t>MOLTO</a:t>
                      </a:r>
                      <a:endParaRPr dirty="0"/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dirty="0">
                          <a:sym typeface="Arial"/>
                        </a:rPr>
                        <a:t>NOTE</a:t>
                      </a:r>
                      <a:endParaRPr dirty="0"/>
                    </a:p>
                  </a:txBody>
                  <a:tcPr marL="86850" marR="86850" marT="43425" marB="43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dirty="0">
                          <a:sym typeface="Arial"/>
                        </a:rPr>
                        <a:t>Le attività  proposte sono state coinvolgenti e motivanti per gli alunni?</a:t>
                      </a:r>
                      <a:endParaRPr dirty="0"/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dirty="0">
                          <a:sym typeface="Arial"/>
                        </a:rPr>
                        <a:t>Ho adeguato la progettazione e le attività alle esigenze e ai bisogni di tutti gli alunni?</a:t>
                      </a:r>
                      <a:endParaRPr dirty="0"/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dirty="0">
                          <a:sym typeface="Arial"/>
                        </a:rPr>
                        <a:t>Il mio atteggiamento nei confronti degli alunni è stato positivo e stimolante?</a:t>
                      </a:r>
                      <a:endParaRPr dirty="0"/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dirty="0">
                          <a:sym typeface="Arial"/>
                        </a:rPr>
                        <a:t>Ho usato materiali appropriati per gli interventi proposti?</a:t>
                      </a:r>
                      <a:endParaRPr dirty="0"/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dirty="0">
                          <a:sym typeface="Arial"/>
                        </a:rPr>
                        <a:t>Ho utilizzato un linguaggio chiaro, appropriato e coinvolgente?</a:t>
                      </a:r>
                      <a:endParaRPr dirty="0"/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dirty="0">
                          <a:sym typeface="Arial"/>
                        </a:rPr>
                        <a:t>Ho monitorato e fornito feedback costruttivi durante le attività?</a:t>
                      </a:r>
                      <a:endParaRPr dirty="0"/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86850" marT="43425" marB="43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7FCBDDC8-02F1-B011-81C6-05237EB09243}"/>
              </a:ext>
            </a:extLst>
          </p:cNvPr>
          <p:cNvSpPr/>
          <p:nvPr/>
        </p:nvSpPr>
        <p:spPr>
          <a:xfrm>
            <a:off x="479883" y="1703070"/>
            <a:ext cx="2491917" cy="8458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8FADD74-5AE4-C9D2-74E3-6A4B0D6FC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83" y="320543"/>
            <a:ext cx="10972800" cy="549715"/>
          </a:xfrm>
        </p:spPr>
        <p:txBody>
          <a:bodyPr/>
          <a:lstStyle/>
          <a:p>
            <a:r>
              <a:rPr lang="it-IT" sz="3200" dirty="0"/>
              <a:t>Bibliografia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FC1F8DE-611A-7E76-77F1-2EEBF147C644}"/>
              </a:ext>
            </a:extLst>
          </p:cNvPr>
          <p:cNvSpPr txBox="1"/>
          <p:nvPr/>
        </p:nvSpPr>
        <p:spPr>
          <a:xfrm>
            <a:off x="365406" y="870258"/>
            <a:ext cx="11087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it-IT" dirty="0"/>
            </a:b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F7597F2-1C97-0B9A-F1E0-ED9F10745605}"/>
              </a:ext>
            </a:extLst>
          </p:cNvPr>
          <p:cNvSpPr txBox="1"/>
          <p:nvPr/>
        </p:nvSpPr>
        <p:spPr>
          <a:xfrm>
            <a:off x="365406" y="3098605"/>
            <a:ext cx="10697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it-IT" dirty="0"/>
            </a:br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578F2664-F204-E0EF-94AE-E1A30738E57D}"/>
              </a:ext>
            </a:extLst>
          </p:cNvPr>
          <p:cNvSpPr txBox="1">
            <a:spLocks/>
          </p:cNvSpPr>
          <p:nvPr/>
        </p:nvSpPr>
        <p:spPr>
          <a:xfrm>
            <a:off x="479883" y="2548890"/>
            <a:ext cx="10972800" cy="54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3200" dirty="0"/>
              <a:t>Normativa 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BD6FBDD9-207E-BE63-4D3D-F43D2A4F03C5}"/>
              </a:ext>
            </a:extLst>
          </p:cNvPr>
          <p:cNvSpPr txBox="1">
            <a:spLocks/>
          </p:cNvSpPr>
          <p:nvPr/>
        </p:nvSpPr>
        <p:spPr>
          <a:xfrm>
            <a:off x="479883" y="5044943"/>
            <a:ext cx="10972800" cy="54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3200" dirty="0"/>
              <a:t>Sitografia</a:t>
            </a:r>
          </a:p>
        </p:txBody>
      </p:sp>
    </p:spTree>
    <p:extLst>
      <p:ext uri="{BB962C8B-B14F-4D97-AF65-F5344CB8AC3E}">
        <p14:creationId xmlns:p14="http://schemas.microsoft.com/office/powerpoint/2010/main" val="1612584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1609</TotalTime>
  <Words>895</Words>
  <Application>Microsoft Macintosh PowerPoint</Application>
  <PresentationFormat>Widescreen</PresentationFormat>
  <Paragraphs>217</Paragraphs>
  <Slides>17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5" baseType="lpstr">
      <vt:lpstr>Franklin Gothic</vt:lpstr>
      <vt:lpstr>Aptos Display</vt:lpstr>
      <vt:lpstr>Franklin Gothic Book</vt:lpstr>
      <vt:lpstr>Libre Franklin</vt:lpstr>
      <vt:lpstr>Aptos</vt:lpstr>
      <vt:lpstr>Arial</vt:lpstr>
      <vt:lpstr>Calibri</vt:lpstr>
      <vt:lpstr>Tema di Office</vt:lpstr>
      <vt:lpstr>CONCORSO ORDINARIO DOCENTI</vt:lpstr>
      <vt:lpstr>Traccia n. …</vt:lpstr>
      <vt:lpstr>Analisi del contesto </vt:lpstr>
      <vt:lpstr>Il contesto classe</vt:lpstr>
      <vt:lpstr>Analisi BES</vt:lpstr>
      <vt:lpstr>Cornice teorica di riferimento</vt:lpstr>
      <vt:lpstr>Preconoscenze attivate</vt:lpstr>
      <vt:lpstr>Presentazione standard di PowerPoint</vt:lpstr>
      <vt:lpstr>Presentazione standard di PowerPoint</vt:lpstr>
      <vt:lpstr>Presentazione standard di PowerPoint</vt:lpstr>
      <vt:lpstr>Fase 1: DA DUPLICARE PER OGNI FASE</vt:lpstr>
      <vt:lpstr>Tre aspetti della valutazione</vt:lpstr>
      <vt:lpstr>Rubrica valutativa: compito di realtà</vt:lpstr>
      <vt:lpstr>Griglia di osservazione del comportamento degli alunni</vt:lpstr>
      <vt:lpstr>Scheda di autovalutazione dell’alunno</vt:lpstr>
      <vt:lpstr>Griglia di autovalutazione del docente</vt:lpstr>
      <vt:lpstr>Bibliografia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Alice Rizzotto</dc:creator>
  <cp:lastModifiedBy>Caterina Bufanini</cp:lastModifiedBy>
  <cp:revision>25</cp:revision>
  <cp:lastPrinted>2024-09-12T08:11:35Z</cp:lastPrinted>
  <dcterms:created xsi:type="dcterms:W3CDTF">2024-09-05T19:51:22Z</dcterms:created>
  <dcterms:modified xsi:type="dcterms:W3CDTF">2025-02-22T13:08:41Z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